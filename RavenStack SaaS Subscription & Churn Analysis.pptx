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Liter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45cb9ea68fe8b7b8d24f636af4cc57fac99872f4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E35">
                  <a:alpha val="95000"/>
                </a:srgbClr>
              </a:gs>
              <a:gs pos="50000">
                <a:srgbClr val="1A2E35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233488"/>
            <a:ext cx="2800350" cy="381000"/>
          </a:xfrm>
          <a:prstGeom prst="roundRect">
            <a:avLst>
              <a:gd name="adj" fmla="val 0"/>
            </a:avLst>
          </a:prstGeom>
          <a:solidFill>
            <a:srgbClr val="C5A57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233488"/>
            <a:ext cx="38100" cy="381000"/>
          </a:xfrm>
          <a:prstGeom prst="roundRect">
            <a:avLst>
              <a:gd name="adj" fmla="val 0"/>
            </a:avLst>
          </a:prstGeom>
          <a:solidFill>
            <a:srgbClr val="C5A57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09688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ANALYTICS PORTFOLIO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43088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RavenStack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Subscription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Churn Analysis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43438"/>
            <a:ext cx="1219200" cy="38100"/>
          </a:xfrm>
          <a:prstGeom prst="roundRect">
            <a:avLst>
              <a:gd name="adj" fmla="val 0"/>
            </a:avLst>
          </a:prstGeom>
          <a:solidFill>
            <a:srgbClr val="C5A57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86338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Retention Analytics &amp; Revenue Insights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5528" y="6257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1" name="Text 8"/>
          <p:cNvSpPr/>
          <p:nvPr/>
        </p:nvSpPr>
        <p:spPr>
          <a:xfrm>
            <a:off x="671513" y="6210300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June 2026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6541401"/>
            <a:ext cx="12197215" cy="326698"/>
          </a:xfrm>
          <a:prstGeom prst="round1Rect">
            <a:avLst>
              <a:gd name="adj" fmla="val 16667"/>
            </a:avLst>
          </a:prstGeom>
          <a:solidFill>
            <a:srgbClr val="4E4E4E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993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spc="60" kern="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82070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Context &amp;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928" y="1250462"/>
            <a:ext cx="909427" cy="37893"/>
          </a:xfrm>
          <a:prstGeom prst="roundRect">
            <a:avLst>
              <a:gd name="adj" fmla="val 0"/>
            </a:avLst>
          </a:prstGeom>
          <a:solidFill>
            <a:srgbClr val="C5A57A"/>
          </a:solidFill>
          <a:ln/>
        </p:spPr>
      </p:sp>
      <p:sp>
        <p:nvSpPr>
          <p:cNvPr id="5" name="Shape 3"/>
          <p:cNvSpPr/>
          <p:nvPr/>
        </p:nvSpPr>
        <p:spPr>
          <a:xfrm>
            <a:off x="397874" y="1477818"/>
            <a:ext cx="5608131" cy="2273566"/>
          </a:xfrm>
          <a:custGeom>
            <a:avLst/>
            <a:gdLst/>
            <a:ahLst/>
            <a:cxnLst/>
            <a:rect l="l" t="t" r="r" b="b"/>
            <a:pathLst>
              <a:path w="5608131" h="2273566">
                <a:moveTo>
                  <a:pt x="37846" y="0"/>
                </a:moveTo>
                <a:lnTo>
                  <a:pt x="5532374" y="0"/>
                </a:lnTo>
                <a:cubicBezTo>
                  <a:pt x="5574248" y="0"/>
                  <a:pt x="5608193" y="33945"/>
                  <a:pt x="5608193" y="75819"/>
                </a:cubicBezTo>
                <a:lnTo>
                  <a:pt x="5608193" y="2197735"/>
                </a:lnTo>
                <a:cubicBezTo>
                  <a:pt x="5608193" y="2239609"/>
                  <a:pt x="5574248" y="2273554"/>
                  <a:pt x="5532374" y="2273554"/>
                </a:cubicBezTo>
                <a:lnTo>
                  <a:pt x="37846" y="2273554"/>
                </a:lnTo>
                <a:cubicBezTo>
                  <a:pt x="16944" y="2273554"/>
                  <a:pt x="0" y="2256610"/>
                  <a:pt x="0" y="2235708"/>
                </a:cubicBezTo>
                <a:lnTo>
                  <a:pt x="0" y="37846"/>
                </a:lnTo>
                <a:cubicBezTo>
                  <a:pt x="0" y="16958"/>
                  <a:pt x="16958" y="0"/>
                  <a:pt x="378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839" dist="37893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7874" y="1477818"/>
            <a:ext cx="37893" cy="2273566"/>
          </a:xfrm>
          <a:custGeom>
            <a:avLst/>
            <a:gdLst/>
            <a:ahLst/>
            <a:cxnLst/>
            <a:rect l="l" t="t" r="r" b="b"/>
            <a:pathLst>
              <a:path w="37893" h="2273566">
                <a:moveTo>
                  <a:pt x="37846" y="0"/>
                </a:moveTo>
                <a:lnTo>
                  <a:pt x="37846" y="0"/>
                </a:lnTo>
                <a:lnTo>
                  <a:pt x="37846" y="2273554"/>
                </a:lnTo>
                <a:lnTo>
                  <a:pt x="37846" y="2273554"/>
                </a:lnTo>
                <a:cubicBezTo>
                  <a:pt x="16944" y="2273554"/>
                  <a:pt x="0" y="2256610"/>
                  <a:pt x="0" y="2235708"/>
                </a:cubicBezTo>
                <a:lnTo>
                  <a:pt x="0" y="37846"/>
                </a:lnTo>
                <a:cubicBezTo>
                  <a:pt x="0" y="16958"/>
                  <a:pt x="16958" y="0"/>
                  <a:pt x="37846" y="0"/>
                </a:cubicBezTo>
                <a:close/>
              </a:path>
            </a:pathLst>
          </a:custGeom>
          <a:solidFill>
            <a:srgbClr val="1A2E35"/>
          </a:solidFill>
          <a:ln/>
        </p:spPr>
      </p:sp>
      <p:sp>
        <p:nvSpPr>
          <p:cNvPr id="7" name="Shape 5"/>
          <p:cNvSpPr/>
          <p:nvPr/>
        </p:nvSpPr>
        <p:spPr>
          <a:xfrm>
            <a:off x="606284" y="1667282"/>
            <a:ext cx="454713" cy="454713"/>
          </a:xfrm>
          <a:prstGeom prst="roundRect">
            <a:avLst>
              <a:gd name="adj" fmla="val 50000"/>
            </a:avLst>
          </a:prstGeom>
          <a:solidFill>
            <a:srgbClr val="1A2E35"/>
          </a:solidFill>
          <a:ln/>
        </p:spPr>
      </p:sp>
      <p:sp>
        <p:nvSpPr>
          <p:cNvPr id="8" name="Shape 6"/>
          <p:cNvSpPr/>
          <p:nvPr/>
        </p:nvSpPr>
        <p:spPr>
          <a:xfrm>
            <a:off x="738909" y="1799907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94732" y="0"/>
                </a:moveTo>
                <a:cubicBezTo>
                  <a:pt x="100172" y="0"/>
                  <a:pt x="105167" y="2997"/>
                  <a:pt x="107758" y="7771"/>
                </a:cubicBezTo>
                <a:lnTo>
                  <a:pt x="187688" y="155790"/>
                </a:lnTo>
                <a:cubicBezTo>
                  <a:pt x="190167" y="160378"/>
                  <a:pt x="190056" y="165929"/>
                  <a:pt x="187392" y="170406"/>
                </a:cubicBezTo>
                <a:cubicBezTo>
                  <a:pt x="184727" y="174884"/>
                  <a:pt x="179880" y="177622"/>
                  <a:pt x="174662" y="177622"/>
                </a:cubicBezTo>
                <a:lnTo>
                  <a:pt x="14802" y="177622"/>
                </a:lnTo>
                <a:cubicBezTo>
                  <a:pt x="9584" y="177622"/>
                  <a:pt x="4774" y="174884"/>
                  <a:pt x="2072" y="170406"/>
                </a:cubicBezTo>
                <a:cubicBezTo>
                  <a:pt x="-629" y="165929"/>
                  <a:pt x="-703" y="160378"/>
                  <a:pt x="1776" y="155790"/>
                </a:cubicBezTo>
                <a:lnTo>
                  <a:pt x="81706" y="7771"/>
                </a:lnTo>
                <a:cubicBezTo>
                  <a:pt x="84297" y="2997"/>
                  <a:pt x="89292" y="0"/>
                  <a:pt x="94732" y="0"/>
                </a:cubicBezTo>
                <a:close/>
                <a:moveTo>
                  <a:pt x="94732" y="62168"/>
                </a:moveTo>
                <a:cubicBezTo>
                  <a:pt x="89810" y="62168"/>
                  <a:pt x="85851" y="66127"/>
                  <a:pt x="85851" y="71049"/>
                </a:cubicBezTo>
                <a:lnTo>
                  <a:pt x="85851" y="112494"/>
                </a:lnTo>
                <a:cubicBezTo>
                  <a:pt x="85851" y="117416"/>
                  <a:pt x="89810" y="121375"/>
                  <a:pt x="94732" y="121375"/>
                </a:cubicBezTo>
                <a:cubicBezTo>
                  <a:pt x="99654" y="121375"/>
                  <a:pt x="103613" y="117416"/>
                  <a:pt x="103613" y="112494"/>
                </a:cubicBezTo>
                <a:lnTo>
                  <a:pt x="103613" y="71049"/>
                </a:lnTo>
                <a:cubicBezTo>
                  <a:pt x="103613" y="66127"/>
                  <a:pt x="99654" y="62168"/>
                  <a:pt x="94732" y="62168"/>
                </a:cubicBezTo>
                <a:close/>
                <a:moveTo>
                  <a:pt x="104612" y="142098"/>
                </a:moveTo>
                <a:cubicBezTo>
                  <a:pt x="104837" y="138430"/>
                  <a:pt x="103008" y="134941"/>
                  <a:pt x="99864" y="133040"/>
                </a:cubicBezTo>
                <a:cubicBezTo>
                  <a:pt x="96720" y="131138"/>
                  <a:pt x="92781" y="131138"/>
                  <a:pt x="89637" y="133040"/>
                </a:cubicBezTo>
                <a:cubicBezTo>
                  <a:pt x="86493" y="134941"/>
                  <a:pt x="84664" y="138430"/>
                  <a:pt x="84889" y="142098"/>
                </a:cubicBezTo>
                <a:cubicBezTo>
                  <a:pt x="84664" y="145765"/>
                  <a:pt x="86493" y="149255"/>
                  <a:pt x="89637" y="151156"/>
                </a:cubicBezTo>
                <a:cubicBezTo>
                  <a:pt x="92781" y="153058"/>
                  <a:pt x="96720" y="153058"/>
                  <a:pt x="99864" y="151156"/>
                </a:cubicBezTo>
                <a:cubicBezTo>
                  <a:pt x="103008" y="149255"/>
                  <a:pt x="104837" y="145765"/>
                  <a:pt x="104612" y="142098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9" name="Text 7"/>
          <p:cNvSpPr/>
          <p:nvPr/>
        </p:nvSpPr>
        <p:spPr>
          <a:xfrm>
            <a:off x="1174676" y="1743068"/>
            <a:ext cx="1904112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6284" y="2273566"/>
            <a:ext cx="5286042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RavenStack faces customer churn challenges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requiring data-driven insights to guide retention and acquisition strategy across 500 customer accounts.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6284" y="2955636"/>
            <a:ext cx="5210256" cy="606284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55487" y="3097734"/>
            <a:ext cx="99469" cy="132625"/>
          </a:xfrm>
          <a:custGeom>
            <a:avLst/>
            <a:gdLst/>
            <a:ahLst/>
            <a:cxnLst/>
            <a:rect l="l" t="t" r="r" b="b"/>
            <a:pathLst>
              <a:path w="99469" h="132625">
                <a:moveTo>
                  <a:pt x="75871" y="99469"/>
                </a:moveTo>
                <a:cubicBezTo>
                  <a:pt x="77762" y="93692"/>
                  <a:pt x="81543" y="88460"/>
                  <a:pt x="85818" y="83952"/>
                </a:cubicBezTo>
                <a:cubicBezTo>
                  <a:pt x="94288" y="75042"/>
                  <a:pt x="99469" y="62997"/>
                  <a:pt x="99469" y="49734"/>
                </a:cubicBezTo>
                <a:cubicBezTo>
                  <a:pt x="99469" y="22277"/>
                  <a:pt x="77192" y="0"/>
                  <a:pt x="49734" y="0"/>
                </a:cubicBezTo>
                <a:cubicBezTo>
                  <a:pt x="22277" y="0"/>
                  <a:pt x="0" y="22277"/>
                  <a:pt x="0" y="49734"/>
                </a:cubicBezTo>
                <a:cubicBezTo>
                  <a:pt x="0" y="62997"/>
                  <a:pt x="5181" y="75042"/>
                  <a:pt x="13651" y="83952"/>
                </a:cubicBezTo>
                <a:cubicBezTo>
                  <a:pt x="17925" y="88460"/>
                  <a:pt x="21733" y="93692"/>
                  <a:pt x="23598" y="99469"/>
                </a:cubicBezTo>
                <a:lnTo>
                  <a:pt x="75845" y="99469"/>
                </a:lnTo>
                <a:close/>
                <a:moveTo>
                  <a:pt x="74601" y="111902"/>
                </a:moveTo>
                <a:lnTo>
                  <a:pt x="24867" y="111902"/>
                </a:lnTo>
                <a:lnTo>
                  <a:pt x="24867" y="116047"/>
                </a:lnTo>
                <a:cubicBezTo>
                  <a:pt x="24867" y="127496"/>
                  <a:pt x="34141" y="136769"/>
                  <a:pt x="45590" y="136769"/>
                </a:cubicBezTo>
                <a:lnTo>
                  <a:pt x="53879" y="136769"/>
                </a:lnTo>
                <a:cubicBezTo>
                  <a:pt x="65328" y="136769"/>
                  <a:pt x="74601" y="127496"/>
                  <a:pt x="74601" y="116047"/>
                </a:cubicBezTo>
                <a:lnTo>
                  <a:pt x="74601" y="111902"/>
                </a:lnTo>
                <a:close/>
                <a:moveTo>
                  <a:pt x="47662" y="29012"/>
                </a:moveTo>
                <a:cubicBezTo>
                  <a:pt x="37353" y="29012"/>
                  <a:pt x="29012" y="37353"/>
                  <a:pt x="29012" y="47662"/>
                </a:cubicBezTo>
                <a:cubicBezTo>
                  <a:pt x="29012" y="51107"/>
                  <a:pt x="26240" y="53879"/>
                  <a:pt x="22795" y="53879"/>
                </a:cubicBezTo>
                <a:cubicBezTo>
                  <a:pt x="19350" y="53879"/>
                  <a:pt x="16578" y="51107"/>
                  <a:pt x="16578" y="47662"/>
                </a:cubicBezTo>
                <a:cubicBezTo>
                  <a:pt x="16578" y="30488"/>
                  <a:pt x="30488" y="16578"/>
                  <a:pt x="47662" y="16578"/>
                </a:cubicBezTo>
                <a:cubicBezTo>
                  <a:pt x="51107" y="16578"/>
                  <a:pt x="53879" y="19350"/>
                  <a:pt x="53879" y="22795"/>
                </a:cubicBezTo>
                <a:cubicBezTo>
                  <a:pt x="53879" y="26240"/>
                  <a:pt x="51107" y="29012"/>
                  <a:pt x="47662" y="29012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3" name="Text 11"/>
          <p:cNvSpPr/>
          <p:nvPr/>
        </p:nvSpPr>
        <p:spPr>
          <a:xfrm>
            <a:off x="947010" y="3069315"/>
            <a:ext cx="4822165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churn drivers is critical for sustainable SaaS revenue growth and customer lifetime value optimization.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0122" y="1477818"/>
            <a:ext cx="5608131" cy="2273566"/>
          </a:xfrm>
          <a:custGeom>
            <a:avLst/>
            <a:gdLst/>
            <a:ahLst/>
            <a:cxnLst/>
            <a:rect l="l" t="t" r="r" b="b"/>
            <a:pathLst>
              <a:path w="5608131" h="2273566">
                <a:moveTo>
                  <a:pt x="37846" y="0"/>
                </a:moveTo>
                <a:lnTo>
                  <a:pt x="5532374" y="0"/>
                </a:lnTo>
                <a:cubicBezTo>
                  <a:pt x="5574248" y="0"/>
                  <a:pt x="5608193" y="33945"/>
                  <a:pt x="5608193" y="75819"/>
                </a:cubicBezTo>
                <a:lnTo>
                  <a:pt x="5608193" y="2197735"/>
                </a:lnTo>
                <a:cubicBezTo>
                  <a:pt x="5608193" y="2239609"/>
                  <a:pt x="5574248" y="2273554"/>
                  <a:pt x="5532374" y="2273554"/>
                </a:cubicBezTo>
                <a:lnTo>
                  <a:pt x="37846" y="2273554"/>
                </a:lnTo>
                <a:cubicBezTo>
                  <a:pt x="16944" y="2273554"/>
                  <a:pt x="0" y="2256610"/>
                  <a:pt x="0" y="2235708"/>
                </a:cubicBezTo>
                <a:lnTo>
                  <a:pt x="0" y="37846"/>
                </a:lnTo>
                <a:cubicBezTo>
                  <a:pt x="0" y="16958"/>
                  <a:pt x="16958" y="0"/>
                  <a:pt x="378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839" dist="37893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0122" y="1477818"/>
            <a:ext cx="37893" cy="2273566"/>
          </a:xfrm>
          <a:custGeom>
            <a:avLst/>
            <a:gdLst/>
            <a:ahLst/>
            <a:cxnLst/>
            <a:rect l="l" t="t" r="r" b="b"/>
            <a:pathLst>
              <a:path w="37893" h="2273566">
                <a:moveTo>
                  <a:pt x="37846" y="0"/>
                </a:moveTo>
                <a:lnTo>
                  <a:pt x="37846" y="0"/>
                </a:lnTo>
                <a:lnTo>
                  <a:pt x="37846" y="2273554"/>
                </a:lnTo>
                <a:lnTo>
                  <a:pt x="37846" y="2273554"/>
                </a:lnTo>
                <a:cubicBezTo>
                  <a:pt x="16944" y="2273554"/>
                  <a:pt x="0" y="2256610"/>
                  <a:pt x="0" y="2235708"/>
                </a:cubicBezTo>
                <a:lnTo>
                  <a:pt x="0" y="37846"/>
                </a:lnTo>
                <a:cubicBezTo>
                  <a:pt x="0" y="16958"/>
                  <a:pt x="16958" y="0"/>
                  <a:pt x="37846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8533" y="1667282"/>
            <a:ext cx="454713" cy="454713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51157" y="1799907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165781" y="94732"/>
                </a:moveTo>
                <a:cubicBezTo>
                  <a:pt x="165781" y="55519"/>
                  <a:pt x="133945" y="23683"/>
                  <a:pt x="94732" y="23683"/>
                </a:cubicBezTo>
                <a:cubicBezTo>
                  <a:pt x="55519" y="23683"/>
                  <a:pt x="23683" y="55519"/>
                  <a:pt x="23683" y="94732"/>
                </a:cubicBezTo>
                <a:cubicBezTo>
                  <a:pt x="23683" y="133945"/>
                  <a:pt x="55519" y="165781"/>
                  <a:pt x="94732" y="165781"/>
                </a:cubicBezTo>
                <a:cubicBezTo>
                  <a:pt x="133945" y="165781"/>
                  <a:pt x="165781" y="133945"/>
                  <a:pt x="165781" y="94732"/>
                </a:cubicBezTo>
                <a:close/>
                <a:moveTo>
                  <a:pt x="0" y="94732"/>
                </a:moveTo>
                <a:cubicBezTo>
                  <a:pt x="0" y="42448"/>
                  <a:pt x="42448" y="0"/>
                  <a:pt x="94732" y="0"/>
                </a:cubicBezTo>
                <a:cubicBezTo>
                  <a:pt x="147016" y="0"/>
                  <a:pt x="189464" y="42448"/>
                  <a:pt x="189464" y="94732"/>
                </a:cubicBezTo>
                <a:cubicBezTo>
                  <a:pt x="189464" y="147016"/>
                  <a:pt x="147016" y="189464"/>
                  <a:pt x="94732" y="189464"/>
                </a:cubicBezTo>
                <a:cubicBezTo>
                  <a:pt x="42448" y="189464"/>
                  <a:pt x="0" y="147016"/>
                  <a:pt x="0" y="94732"/>
                </a:cubicBezTo>
                <a:close/>
                <a:moveTo>
                  <a:pt x="94732" y="124336"/>
                </a:moveTo>
                <a:cubicBezTo>
                  <a:pt x="111071" y="124336"/>
                  <a:pt x="124336" y="111071"/>
                  <a:pt x="124336" y="94732"/>
                </a:cubicBezTo>
                <a:cubicBezTo>
                  <a:pt x="124336" y="78393"/>
                  <a:pt x="111071" y="65128"/>
                  <a:pt x="94732" y="65128"/>
                </a:cubicBezTo>
                <a:cubicBezTo>
                  <a:pt x="78393" y="65128"/>
                  <a:pt x="65128" y="78393"/>
                  <a:pt x="65128" y="94732"/>
                </a:cubicBezTo>
                <a:cubicBezTo>
                  <a:pt x="65128" y="111071"/>
                  <a:pt x="78393" y="124336"/>
                  <a:pt x="94732" y="124336"/>
                </a:cubicBezTo>
                <a:close/>
                <a:moveTo>
                  <a:pt x="94732" y="41445"/>
                </a:moveTo>
                <a:cubicBezTo>
                  <a:pt x="124142" y="41445"/>
                  <a:pt x="148019" y="65322"/>
                  <a:pt x="148019" y="94732"/>
                </a:cubicBezTo>
                <a:cubicBezTo>
                  <a:pt x="148019" y="124142"/>
                  <a:pt x="124142" y="148019"/>
                  <a:pt x="94732" y="148019"/>
                </a:cubicBezTo>
                <a:cubicBezTo>
                  <a:pt x="65322" y="148019"/>
                  <a:pt x="41445" y="124142"/>
                  <a:pt x="41445" y="94732"/>
                </a:cubicBezTo>
                <a:cubicBezTo>
                  <a:pt x="41445" y="65322"/>
                  <a:pt x="65322" y="41445"/>
                  <a:pt x="94732" y="41445"/>
                </a:cubicBezTo>
                <a:close/>
                <a:moveTo>
                  <a:pt x="82890" y="94732"/>
                </a:moveTo>
                <a:cubicBezTo>
                  <a:pt x="82890" y="88196"/>
                  <a:pt x="88196" y="82890"/>
                  <a:pt x="94732" y="82890"/>
                </a:cubicBezTo>
                <a:cubicBezTo>
                  <a:pt x="101267" y="82890"/>
                  <a:pt x="106573" y="88196"/>
                  <a:pt x="106573" y="94732"/>
                </a:cubicBezTo>
                <a:cubicBezTo>
                  <a:pt x="106573" y="101267"/>
                  <a:pt x="101267" y="106573"/>
                  <a:pt x="94732" y="106573"/>
                </a:cubicBezTo>
                <a:cubicBezTo>
                  <a:pt x="88196" y="106573"/>
                  <a:pt x="82890" y="101267"/>
                  <a:pt x="82890" y="9473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86924" y="1743068"/>
            <a:ext cx="19325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8533" y="2311459"/>
            <a:ext cx="12315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9908" y="2273566"/>
            <a:ext cx="378927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Uncover the </a:t>
            </a:r>
            <a:pPr>
              <a:lnSpc>
                <a:spcPct val="130000"/>
              </a:lnSpc>
            </a:pPr>
            <a:r>
              <a:rPr lang="en-US" sz="119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drivers of customer churn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segments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8533" y="2652494"/>
            <a:ext cx="12315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9908" y="2614601"/>
            <a:ext cx="375138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</a:t>
            </a:r>
            <a:pPr>
              <a:lnSpc>
                <a:spcPct val="130000"/>
              </a:lnSpc>
            </a:pPr>
            <a:r>
              <a:rPr lang="en-US" sz="119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health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LTV by acquisition channel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8533" y="2993529"/>
            <a:ext cx="12315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9908" y="2955636"/>
            <a:ext cx="340087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 </a:t>
            </a:r>
            <a:pPr>
              <a:lnSpc>
                <a:spcPct val="130000"/>
              </a:lnSpc>
            </a:pPr>
            <a:r>
              <a:rPr lang="en-US" sz="119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and product engagement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patterns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8533" y="3334564"/>
            <a:ext cx="12315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9908" y="3296671"/>
            <a:ext cx="395032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 </a:t>
            </a:r>
            <a:pPr>
              <a:lnSpc>
                <a:spcPct val="130000"/>
              </a:lnSpc>
            </a:pPr>
            <a:r>
              <a:rPr lang="en-US" sz="119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recommendations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retention strategy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97874" y="3940848"/>
            <a:ext cx="5608131" cy="2917744"/>
          </a:xfrm>
          <a:custGeom>
            <a:avLst/>
            <a:gdLst/>
            <a:ahLst/>
            <a:cxnLst/>
            <a:rect l="l" t="t" r="r" b="b"/>
            <a:pathLst>
              <a:path w="5608131" h="2917744">
                <a:moveTo>
                  <a:pt x="37846" y="0"/>
                </a:moveTo>
                <a:lnTo>
                  <a:pt x="5532374" y="0"/>
                </a:lnTo>
                <a:cubicBezTo>
                  <a:pt x="5574248" y="0"/>
                  <a:pt x="5608193" y="33945"/>
                  <a:pt x="5608193" y="75819"/>
                </a:cubicBezTo>
                <a:lnTo>
                  <a:pt x="5608193" y="2842006"/>
                </a:lnTo>
                <a:cubicBezTo>
                  <a:pt x="5608123" y="2883830"/>
                  <a:pt x="5574198" y="2917698"/>
                  <a:pt x="5532374" y="2917698"/>
                </a:cubicBezTo>
                <a:lnTo>
                  <a:pt x="37846" y="2917698"/>
                </a:lnTo>
                <a:cubicBezTo>
                  <a:pt x="16944" y="2917698"/>
                  <a:pt x="0" y="2900754"/>
                  <a:pt x="0" y="2879852"/>
                </a:cubicBezTo>
                <a:lnTo>
                  <a:pt x="0" y="37846"/>
                </a:lnTo>
                <a:cubicBezTo>
                  <a:pt x="0" y="16958"/>
                  <a:pt x="16958" y="0"/>
                  <a:pt x="378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839" dist="37893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7874" y="3940848"/>
            <a:ext cx="37893" cy="2917744"/>
          </a:xfrm>
          <a:custGeom>
            <a:avLst/>
            <a:gdLst/>
            <a:ahLst/>
            <a:cxnLst/>
            <a:rect l="l" t="t" r="r" b="b"/>
            <a:pathLst>
              <a:path w="37893" h="2917744">
                <a:moveTo>
                  <a:pt x="37846" y="0"/>
                </a:moveTo>
                <a:lnTo>
                  <a:pt x="37846" y="0"/>
                </a:lnTo>
                <a:lnTo>
                  <a:pt x="37846" y="2917698"/>
                </a:lnTo>
                <a:lnTo>
                  <a:pt x="37846" y="2917698"/>
                </a:lnTo>
                <a:cubicBezTo>
                  <a:pt x="16944" y="2917698"/>
                  <a:pt x="0" y="2900754"/>
                  <a:pt x="0" y="2879852"/>
                </a:cubicBezTo>
                <a:lnTo>
                  <a:pt x="0" y="37846"/>
                </a:lnTo>
                <a:cubicBezTo>
                  <a:pt x="0" y="16958"/>
                  <a:pt x="16958" y="0"/>
                  <a:pt x="37846" y="0"/>
                </a:cubicBezTo>
                <a:close/>
              </a:path>
            </a:pathLst>
          </a:custGeom>
          <a:solidFill>
            <a:srgbClr val="5A6B7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6284" y="4130312"/>
            <a:ext cx="454713" cy="454713"/>
          </a:xfrm>
          <a:prstGeom prst="roundRect">
            <a:avLst>
              <a:gd name="adj" fmla="val 50000"/>
            </a:avLst>
          </a:prstGeom>
          <a:solidFill>
            <a:srgbClr val="5A6B75"/>
          </a:solidFill>
          <a:ln/>
        </p:spPr>
      </p:sp>
      <p:sp>
        <p:nvSpPr>
          <p:cNvPr id="30" name="Shape 28"/>
          <p:cNvSpPr/>
          <p:nvPr/>
        </p:nvSpPr>
        <p:spPr>
          <a:xfrm>
            <a:off x="750751" y="4262937"/>
            <a:ext cx="165781" cy="189464"/>
          </a:xfrm>
          <a:custGeom>
            <a:avLst/>
            <a:gdLst/>
            <a:ahLst/>
            <a:cxnLst/>
            <a:rect l="l" t="t" r="r" b="b"/>
            <a:pathLst>
              <a:path w="165781" h="189464">
                <a:moveTo>
                  <a:pt x="165781" y="76156"/>
                </a:moveTo>
                <a:cubicBezTo>
                  <a:pt x="160304" y="79782"/>
                  <a:pt x="154013" y="82705"/>
                  <a:pt x="147464" y="85037"/>
                </a:cubicBezTo>
                <a:cubicBezTo>
                  <a:pt x="130071" y="91253"/>
                  <a:pt x="107240" y="94732"/>
                  <a:pt x="82890" y="94732"/>
                </a:cubicBezTo>
                <a:cubicBezTo>
                  <a:pt x="58541" y="94732"/>
                  <a:pt x="35672" y="91216"/>
                  <a:pt x="18317" y="85037"/>
                </a:cubicBezTo>
                <a:cubicBezTo>
                  <a:pt x="11804" y="82705"/>
                  <a:pt x="5477" y="79782"/>
                  <a:pt x="0" y="76156"/>
                </a:cubicBezTo>
                <a:lnTo>
                  <a:pt x="0" y="106573"/>
                </a:lnTo>
                <a:cubicBezTo>
                  <a:pt x="0" y="122929"/>
                  <a:pt x="37116" y="136177"/>
                  <a:pt x="82890" y="136177"/>
                </a:cubicBezTo>
                <a:cubicBezTo>
                  <a:pt x="128665" y="136177"/>
                  <a:pt x="165781" y="122929"/>
                  <a:pt x="165781" y="106573"/>
                </a:cubicBezTo>
                <a:lnTo>
                  <a:pt x="165781" y="76156"/>
                </a:lnTo>
                <a:close/>
                <a:moveTo>
                  <a:pt x="165781" y="47366"/>
                </a:moveTo>
                <a:lnTo>
                  <a:pt x="165781" y="29604"/>
                </a:lnTo>
                <a:cubicBezTo>
                  <a:pt x="165781" y="13248"/>
                  <a:pt x="128665" y="0"/>
                  <a:pt x="82890" y="0"/>
                </a:cubicBezTo>
                <a:cubicBezTo>
                  <a:pt x="37116" y="0"/>
                  <a:pt x="0" y="13248"/>
                  <a:pt x="0" y="29604"/>
                </a:cubicBezTo>
                <a:lnTo>
                  <a:pt x="0" y="47366"/>
                </a:lnTo>
                <a:cubicBezTo>
                  <a:pt x="0" y="63722"/>
                  <a:pt x="37116" y="76970"/>
                  <a:pt x="82890" y="76970"/>
                </a:cubicBezTo>
                <a:cubicBezTo>
                  <a:pt x="128665" y="76970"/>
                  <a:pt x="165781" y="63722"/>
                  <a:pt x="165781" y="47366"/>
                </a:cubicBezTo>
                <a:close/>
                <a:moveTo>
                  <a:pt x="147464" y="144244"/>
                </a:moveTo>
                <a:cubicBezTo>
                  <a:pt x="130108" y="150424"/>
                  <a:pt x="107277" y="153939"/>
                  <a:pt x="82890" y="153939"/>
                </a:cubicBezTo>
                <a:cubicBezTo>
                  <a:pt x="58504" y="153939"/>
                  <a:pt x="35672" y="150424"/>
                  <a:pt x="18317" y="144244"/>
                </a:cubicBezTo>
                <a:cubicBezTo>
                  <a:pt x="11804" y="141913"/>
                  <a:pt x="5477" y="138990"/>
                  <a:pt x="0" y="135363"/>
                </a:cubicBezTo>
                <a:lnTo>
                  <a:pt x="0" y="159860"/>
                </a:lnTo>
                <a:cubicBezTo>
                  <a:pt x="0" y="176216"/>
                  <a:pt x="37116" y="189464"/>
                  <a:pt x="82890" y="189464"/>
                </a:cubicBezTo>
                <a:cubicBezTo>
                  <a:pt x="128665" y="189464"/>
                  <a:pt x="165781" y="176216"/>
                  <a:pt x="165781" y="159860"/>
                </a:cubicBezTo>
                <a:lnTo>
                  <a:pt x="165781" y="135363"/>
                </a:lnTo>
                <a:cubicBezTo>
                  <a:pt x="160304" y="138990"/>
                  <a:pt x="154013" y="141913"/>
                  <a:pt x="147464" y="1442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74676" y="4206098"/>
            <a:ext cx="1572550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Scope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6284" y="4736597"/>
            <a:ext cx="1657809" cy="757855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33" name="Text 31"/>
          <p:cNvSpPr/>
          <p:nvPr/>
        </p:nvSpPr>
        <p:spPr>
          <a:xfrm>
            <a:off x="648914" y="4850275"/>
            <a:ext cx="157255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6807" y="5191310"/>
            <a:ext cx="14967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Accounts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379400" y="4736597"/>
            <a:ext cx="1657809" cy="757855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36" name="Text 34"/>
          <p:cNvSpPr/>
          <p:nvPr/>
        </p:nvSpPr>
        <p:spPr>
          <a:xfrm>
            <a:off x="2422029" y="4850275"/>
            <a:ext cx="157255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5,000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459922" y="5191310"/>
            <a:ext cx="14967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152663" y="4736597"/>
            <a:ext cx="1657809" cy="757855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4195293" y="4850275"/>
            <a:ext cx="157255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25,000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233185" y="5191310"/>
            <a:ext cx="14967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Events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06284" y="5608131"/>
            <a:ext cx="1657809" cy="757855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42" name="Text 40"/>
          <p:cNvSpPr/>
          <p:nvPr/>
        </p:nvSpPr>
        <p:spPr>
          <a:xfrm>
            <a:off x="648914" y="5721809"/>
            <a:ext cx="157255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2,000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6807" y="6062844"/>
            <a:ext cx="14967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Tickets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379400" y="5608131"/>
            <a:ext cx="1657809" cy="757855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45" name="Text 43"/>
          <p:cNvSpPr/>
          <p:nvPr/>
        </p:nvSpPr>
        <p:spPr>
          <a:xfrm>
            <a:off x="2422029" y="5721809"/>
            <a:ext cx="157255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459922" y="6062844"/>
            <a:ext cx="14967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Events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152663" y="5608131"/>
            <a:ext cx="1657809" cy="757855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48" name="Text 46"/>
          <p:cNvSpPr/>
          <p:nvPr/>
        </p:nvSpPr>
        <p:spPr>
          <a:xfrm>
            <a:off x="4195293" y="5721809"/>
            <a:ext cx="157255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233185" y="6062844"/>
            <a:ext cx="14967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Tables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10122" y="3940848"/>
            <a:ext cx="5608131" cy="2917744"/>
          </a:xfrm>
          <a:custGeom>
            <a:avLst/>
            <a:gdLst/>
            <a:ahLst/>
            <a:cxnLst/>
            <a:rect l="l" t="t" r="r" b="b"/>
            <a:pathLst>
              <a:path w="5608131" h="2917744">
                <a:moveTo>
                  <a:pt x="37846" y="0"/>
                </a:moveTo>
                <a:lnTo>
                  <a:pt x="5532374" y="0"/>
                </a:lnTo>
                <a:cubicBezTo>
                  <a:pt x="5574248" y="0"/>
                  <a:pt x="5608193" y="33945"/>
                  <a:pt x="5608193" y="75819"/>
                </a:cubicBezTo>
                <a:lnTo>
                  <a:pt x="5608193" y="2842006"/>
                </a:lnTo>
                <a:cubicBezTo>
                  <a:pt x="5608123" y="2883830"/>
                  <a:pt x="5574198" y="2917698"/>
                  <a:pt x="5532374" y="2917698"/>
                </a:cubicBezTo>
                <a:lnTo>
                  <a:pt x="37846" y="2917698"/>
                </a:lnTo>
                <a:cubicBezTo>
                  <a:pt x="16944" y="2917698"/>
                  <a:pt x="0" y="2900754"/>
                  <a:pt x="0" y="2879852"/>
                </a:cubicBezTo>
                <a:lnTo>
                  <a:pt x="0" y="37846"/>
                </a:lnTo>
                <a:cubicBezTo>
                  <a:pt x="0" y="16958"/>
                  <a:pt x="16958" y="0"/>
                  <a:pt x="378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839" dist="37893" dir="540000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10122" y="3940848"/>
            <a:ext cx="37893" cy="2917744"/>
          </a:xfrm>
          <a:custGeom>
            <a:avLst/>
            <a:gdLst/>
            <a:ahLst/>
            <a:cxnLst/>
            <a:rect l="l" t="t" r="r" b="b"/>
            <a:pathLst>
              <a:path w="37893" h="2917744">
                <a:moveTo>
                  <a:pt x="37846" y="0"/>
                </a:moveTo>
                <a:lnTo>
                  <a:pt x="37846" y="0"/>
                </a:lnTo>
                <a:lnTo>
                  <a:pt x="37846" y="2917698"/>
                </a:lnTo>
                <a:lnTo>
                  <a:pt x="37846" y="2917698"/>
                </a:lnTo>
                <a:cubicBezTo>
                  <a:pt x="16944" y="2917698"/>
                  <a:pt x="0" y="2900754"/>
                  <a:pt x="0" y="2879852"/>
                </a:cubicBezTo>
                <a:lnTo>
                  <a:pt x="0" y="37846"/>
                </a:lnTo>
                <a:cubicBezTo>
                  <a:pt x="0" y="16958"/>
                  <a:pt x="16958" y="0"/>
                  <a:pt x="37846" y="0"/>
                </a:cubicBezTo>
                <a:close/>
              </a:path>
            </a:pathLst>
          </a:custGeom>
          <a:solidFill>
            <a:srgbClr val="1A2E35"/>
          </a:solidFill>
          <a:ln/>
        </p:spPr>
      </p:sp>
      <p:sp>
        <p:nvSpPr>
          <p:cNvPr id="52" name="Shape 50"/>
          <p:cNvSpPr/>
          <p:nvPr/>
        </p:nvSpPr>
        <p:spPr>
          <a:xfrm>
            <a:off x="6418533" y="4130312"/>
            <a:ext cx="454713" cy="454713"/>
          </a:xfrm>
          <a:prstGeom prst="roundRect">
            <a:avLst>
              <a:gd name="adj" fmla="val 50000"/>
            </a:avLst>
          </a:prstGeom>
          <a:solidFill>
            <a:srgbClr val="1A2E35"/>
          </a:solidFill>
          <a:ln/>
        </p:spPr>
      </p:sp>
      <p:sp>
        <p:nvSpPr>
          <p:cNvPr id="53" name="Shape 51"/>
          <p:cNvSpPr/>
          <p:nvPr/>
        </p:nvSpPr>
        <p:spPr>
          <a:xfrm>
            <a:off x="6539316" y="4262937"/>
            <a:ext cx="213147" cy="189464"/>
          </a:xfrm>
          <a:custGeom>
            <a:avLst/>
            <a:gdLst/>
            <a:ahLst/>
            <a:cxnLst/>
            <a:rect l="l" t="t" r="r" b="b"/>
            <a:pathLst>
              <a:path w="213147" h="189464">
                <a:moveTo>
                  <a:pt x="82927" y="35932"/>
                </a:moveTo>
                <a:lnTo>
                  <a:pt x="82927" y="54286"/>
                </a:lnTo>
                <a:lnTo>
                  <a:pt x="83112" y="54471"/>
                </a:lnTo>
                <a:cubicBezTo>
                  <a:pt x="85518" y="23979"/>
                  <a:pt x="111014" y="0"/>
                  <a:pt x="142135" y="0"/>
                </a:cubicBezTo>
                <a:cubicBezTo>
                  <a:pt x="149573" y="0"/>
                  <a:pt x="156715" y="1369"/>
                  <a:pt x="163265" y="3885"/>
                </a:cubicBezTo>
                <a:cubicBezTo>
                  <a:pt x="166965" y="5292"/>
                  <a:pt x="167631" y="9991"/>
                  <a:pt x="164856" y="12804"/>
                </a:cubicBezTo>
                <a:lnTo>
                  <a:pt x="132033" y="45627"/>
                </a:lnTo>
                <a:cubicBezTo>
                  <a:pt x="130922" y="46737"/>
                  <a:pt x="130293" y="48254"/>
                  <a:pt x="130293" y="49808"/>
                </a:cubicBezTo>
                <a:lnTo>
                  <a:pt x="130293" y="65128"/>
                </a:lnTo>
                <a:cubicBezTo>
                  <a:pt x="130293" y="68385"/>
                  <a:pt x="132958" y="71049"/>
                  <a:pt x="136214" y="71049"/>
                </a:cubicBezTo>
                <a:lnTo>
                  <a:pt x="151534" y="71049"/>
                </a:lnTo>
                <a:cubicBezTo>
                  <a:pt x="153088" y="71049"/>
                  <a:pt x="154605" y="70420"/>
                  <a:pt x="155716" y="69310"/>
                </a:cubicBezTo>
                <a:lnTo>
                  <a:pt x="188539" y="36487"/>
                </a:lnTo>
                <a:cubicBezTo>
                  <a:pt x="191351" y="33674"/>
                  <a:pt x="196051" y="34377"/>
                  <a:pt x="197457" y="38078"/>
                </a:cubicBezTo>
                <a:cubicBezTo>
                  <a:pt x="199973" y="44628"/>
                  <a:pt x="201342" y="51770"/>
                  <a:pt x="201342" y="59207"/>
                </a:cubicBezTo>
                <a:cubicBezTo>
                  <a:pt x="201342" y="81632"/>
                  <a:pt x="188872" y="101171"/>
                  <a:pt x="170443" y="111199"/>
                </a:cubicBezTo>
                <a:lnTo>
                  <a:pt x="200602" y="141358"/>
                </a:lnTo>
                <a:cubicBezTo>
                  <a:pt x="207522" y="148278"/>
                  <a:pt x="207522" y="159527"/>
                  <a:pt x="200602" y="166484"/>
                </a:cubicBezTo>
                <a:lnTo>
                  <a:pt x="178362" y="188724"/>
                </a:lnTo>
                <a:cubicBezTo>
                  <a:pt x="171443" y="195644"/>
                  <a:pt x="160193" y="195644"/>
                  <a:pt x="153236" y="188724"/>
                </a:cubicBezTo>
                <a:lnTo>
                  <a:pt x="106610" y="142098"/>
                </a:lnTo>
                <a:cubicBezTo>
                  <a:pt x="96471" y="131959"/>
                  <a:pt x="94177" y="116972"/>
                  <a:pt x="99765" y="104612"/>
                </a:cubicBezTo>
                <a:lnTo>
                  <a:pt x="66201" y="71049"/>
                </a:lnTo>
                <a:lnTo>
                  <a:pt x="47847" y="71049"/>
                </a:lnTo>
                <a:cubicBezTo>
                  <a:pt x="43888" y="71049"/>
                  <a:pt x="40187" y="69088"/>
                  <a:pt x="38004" y="65794"/>
                </a:cubicBezTo>
                <a:lnTo>
                  <a:pt x="8659" y="21796"/>
                </a:lnTo>
                <a:cubicBezTo>
                  <a:pt x="7105" y="19464"/>
                  <a:pt x="7401" y="16319"/>
                  <a:pt x="9399" y="14321"/>
                </a:cubicBezTo>
                <a:lnTo>
                  <a:pt x="26199" y="-2479"/>
                </a:lnTo>
                <a:cubicBezTo>
                  <a:pt x="28198" y="-4478"/>
                  <a:pt x="31306" y="-4774"/>
                  <a:pt x="33674" y="-3219"/>
                </a:cubicBezTo>
                <a:lnTo>
                  <a:pt x="77673" y="26088"/>
                </a:lnTo>
                <a:cubicBezTo>
                  <a:pt x="80966" y="28272"/>
                  <a:pt x="82927" y="31972"/>
                  <a:pt x="82927" y="35932"/>
                </a:cubicBezTo>
                <a:close/>
                <a:moveTo>
                  <a:pt x="79782" y="109756"/>
                </a:moveTo>
                <a:cubicBezTo>
                  <a:pt x="77451" y="123448"/>
                  <a:pt x="80670" y="137916"/>
                  <a:pt x="89551" y="149499"/>
                </a:cubicBezTo>
                <a:lnTo>
                  <a:pt x="54397" y="184616"/>
                </a:lnTo>
                <a:cubicBezTo>
                  <a:pt x="43999" y="195015"/>
                  <a:pt x="27124" y="195015"/>
                  <a:pt x="16726" y="184616"/>
                </a:cubicBezTo>
                <a:cubicBezTo>
                  <a:pt x="6328" y="174218"/>
                  <a:pt x="6328" y="157344"/>
                  <a:pt x="16726" y="146946"/>
                </a:cubicBezTo>
                <a:lnTo>
                  <a:pt x="66830" y="96841"/>
                </a:lnTo>
                <a:lnTo>
                  <a:pt x="79782" y="109793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4" name="Text 52"/>
          <p:cNvSpPr/>
          <p:nvPr/>
        </p:nvSpPr>
        <p:spPr>
          <a:xfrm>
            <a:off x="6986924" y="4206098"/>
            <a:ext cx="124098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18533" y="4736597"/>
            <a:ext cx="5210256" cy="568392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</p:sp>
      <p:sp>
        <p:nvSpPr>
          <p:cNvPr id="56" name="Shape 54"/>
          <p:cNvSpPr/>
          <p:nvPr/>
        </p:nvSpPr>
        <p:spPr>
          <a:xfrm>
            <a:off x="6536948" y="4907114"/>
            <a:ext cx="198937" cy="227357"/>
          </a:xfrm>
          <a:custGeom>
            <a:avLst/>
            <a:gdLst/>
            <a:ahLst/>
            <a:cxnLst/>
            <a:rect l="l" t="t" r="r" b="b"/>
            <a:pathLst>
              <a:path w="198937" h="227357">
                <a:moveTo>
                  <a:pt x="195296" y="89033"/>
                </a:moveTo>
                <a:cubicBezTo>
                  <a:pt x="191877" y="75312"/>
                  <a:pt x="185393" y="64965"/>
                  <a:pt x="171583" y="64965"/>
                </a:cubicBezTo>
                <a:lnTo>
                  <a:pt x="153777" y="64965"/>
                </a:lnTo>
                <a:lnTo>
                  <a:pt x="153777" y="86014"/>
                </a:lnTo>
                <a:cubicBezTo>
                  <a:pt x="153777" y="102355"/>
                  <a:pt x="139922" y="116121"/>
                  <a:pt x="124114" y="116121"/>
                </a:cubicBezTo>
                <a:lnTo>
                  <a:pt x="76688" y="116121"/>
                </a:lnTo>
                <a:cubicBezTo>
                  <a:pt x="63722" y="116121"/>
                  <a:pt x="52976" y="127222"/>
                  <a:pt x="52976" y="140233"/>
                </a:cubicBezTo>
                <a:lnTo>
                  <a:pt x="52976" y="185438"/>
                </a:lnTo>
                <a:cubicBezTo>
                  <a:pt x="52976" y="198315"/>
                  <a:pt x="64166" y="205864"/>
                  <a:pt x="76688" y="209550"/>
                </a:cubicBezTo>
                <a:cubicBezTo>
                  <a:pt x="91698" y="213946"/>
                  <a:pt x="106129" y="214745"/>
                  <a:pt x="124114" y="209550"/>
                </a:cubicBezTo>
                <a:cubicBezTo>
                  <a:pt x="136059" y="206086"/>
                  <a:pt x="147826" y="199115"/>
                  <a:pt x="147826" y="185438"/>
                </a:cubicBezTo>
                <a:lnTo>
                  <a:pt x="147826" y="167365"/>
                </a:lnTo>
                <a:lnTo>
                  <a:pt x="100445" y="167365"/>
                </a:lnTo>
                <a:lnTo>
                  <a:pt x="100445" y="161326"/>
                </a:lnTo>
                <a:lnTo>
                  <a:pt x="171583" y="161326"/>
                </a:lnTo>
                <a:cubicBezTo>
                  <a:pt x="185393" y="161326"/>
                  <a:pt x="190500" y="151690"/>
                  <a:pt x="195296" y="137258"/>
                </a:cubicBezTo>
                <a:cubicBezTo>
                  <a:pt x="200269" y="122382"/>
                  <a:pt x="200047" y="108083"/>
                  <a:pt x="195296" y="89033"/>
                </a:cubicBezTo>
                <a:close/>
                <a:moveTo>
                  <a:pt x="127089" y="197472"/>
                </a:moveTo>
                <a:cubicBezTo>
                  <a:pt x="123709" y="197709"/>
                  <a:pt x="120480" y="196040"/>
                  <a:pt x="118718" y="193146"/>
                </a:cubicBezTo>
                <a:cubicBezTo>
                  <a:pt x="116956" y="190253"/>
                  <a:pt x="116956" y="186618"/>
                  <a:pt x="118718" y="183724"/>
                </a:cubicBezTo>
                <a:cubicBezTo>
                  <a:pt x="120480" y="180830"/>
                  <a:pt x="123709" y="179162"/>
                  <a:pt x="127089" y="179399"/>
                </a:cubicBezTo>
                <a:cubicBezTo>
                  <a:pt x="130468" y="179162"/>
                  <a:pt x="133698" y="180830"/>
                  <a:pt x="135460" y="183724"/>
                </a:cubicBezTo>
                <a:cubicBezTo>
                  <a:pt x="137222" y="186618"/>
                  <a:pt x="137222" y="190253"/>
                  <a:pt x="135460" y="193146"/>
                </a:cubicBezTo>
                <a:cubicBezTo>
                  <a:pt x="133698" y="196040"/>
                  <a:pt x="130468" y="197709"/>
                  <a:pt x="127089" y="197472"/>
                </a:cubicBezTo>
                <a:close/>
                <a:moveTo>
                  <a:pt x="74513" y="110170"/>
                </a:moveTo>
                <a:lnTo>
                  <a:pt x="121938" y="110170"/>
                </a:lnTo>
                <a:cubicBezTo>
                  <a:pt x="135126" y="110170"/>
                  <a:pt x="145650" y="99291"/>
                  <a:pt x="145650" y="86058"/>
                </a:cubicBezTo>
                <a:lnTo>
                  <a:pt x="145650" y="40809"/>
                </a:lnTo>
                <a:cubicBezTo>
                  <a:pt x="145650" y="27931"/>
                  <a:pt x="134815" y="18295"/>
                  <a:pt x="121938" y="16119"/>
                </a:cubicBezTo>
                <a:cubicBezTo>
                  <a:pt x="106041" y="13499"/>
                  <a:pt x="88767" y="13633"/>
                  <a:pt x="74513" y="16164"/>
                </a:cubicBezTo>
                <a:cubicBezTo>
                  <a:pt x="54441" y="19716"/>
                  <a:pt x="50800" y="27132"/>
                  <a:pt x="50800" y="40853"/>
                </a:cubicBezTo>
                <a:lnTo>
                  <a:pt x="50800" y="58926"/>
                </a:lnTo>
                <a:lnTo>
                  <a:pt x="98270" y="58926"/>
                </a:lnTo>
                <a:lnTo>
                  <a:pt x="98270" y="64965"/>
                </a:lnTo>
                <a:lnTo>
                  <a:pt x="32993" y="64965"/>
                </a:lnTo>
                <a:cubicBezTo>
                  <a:pt x="19183" y="64965"/>
                  <a:pt x="7105" y="73269"/>
                  <a:pt x="3330" y="89033"/>
                </a:cubicBezTo>
                <a:cubicBezTo>
                  <a:pt x="-1021" y="107106"/>
                  <a:pt x="-1199" y="118385"/>
                  <a:pt x="3330" y="137258"/>
                </a:cubicBezTo>
                <a:cubicBezTo>
                  <a:pt x="6705" y="151290"/>
                  <a:pt x="14743" y="161326"/>
                  <a:pt x="28553" y="161326"/>
                </a:cubicBezTo>
                <a:lnTo>
                  <a:pt x="44850" y="161326"/>
                </a:lnTo>
                <a:lnTo>
                  <a:pt x="44850" y="139656"/>
                </a:lnTo>
                <a:cubicBezTo>
                  <a:pt x="44850" y="123980"/>
                  <a:pt x="58393" y="110170"/>
                  <a:pt x="74513" y="110170"/>
                </a:cubicBezTo>
                <a:close/>
                <a:moveTo>
                  <a:pt x="71582" y="28730"/>
                </a:moveTo>
                <a:cubicBezTo>
                  <a:pt x="76581" y="28730"/>
                  <a:pt x="80641" y="32790"/>
                  <a:pt x="80641" y="37789"/>
                </a:cubicBezTo>
                <a:cubicBezTo>
                  <a:pt x="80641" y="42789"/>
                  <a:pt x="76581" y="46848"/>
                  <a:pt x="71582" y="46848"/>
                </a:cubicBezTo>
                <a:cubicBezTo>
                  <a:pt x="66582" y="46848"/>
                  <a:pt x="62523" y="42789"/>
                  <a:pt x="62523" y="37789"/>
                </a:cubicBezTo>
                <a:cubicBezTo>
                  <a:pt x="62523" y="32790"/>
                  <a:pt x="66582" y="28730"/>
                  <a:pt x="71582" y="28730"/>
                </a:cubicBezTo>
                <a:close/>
              </a:path>
            </a:pathLst>
          </a:custGeom>
          <a:solidFill>
            <a:srgbClr val="1A2E35"/>
          </a:solidFill>
          <a:ln/>
        </p:spPr>
      </p:sp>
      <p:sp>
        <p:nvSpPr>
          <p:cNvPr id="57" name="Text 55"/>
          <p:cNvSpPr/>
          <p:nvPr/>
        </p:nvSpPr>
        <p:spPr>
          <a:xfrm>
            <a:off x="6892192" y="4812382"/>
            <a:ext cx="2519869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92192" y="5039739"/>
            <a:ext cx="2510396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pandas, SQLAlchemy, feature engineering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18533" y="5418667"/>
            <a:ext cx="5210256" cy="568392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</p:sp>
      <p:sp>
        <p:nvSpPr>
          <p:cNvPr id="60" name="Shape 58"/>
          <p:cNvSpPr/>
          <p:nvPr/>
        </p:nvSpPr>
        <p:spPr>
          <a:xfrm>
            <a:off x="6536948" y="5589184"/>
            <a:ext cx="198937" cy="227357"/>
          </a:xfrm>
          <a:custGeom>
            <a:avLst/>
            <a:gdLst/>
            <a:ahLst/>
            <a:cxnLst/>
            <a:rect l="l" t="t" r="r" b="b"/>
            <a:pathLst>
              <a:path w="198937" h="227357">
                <a:moveTo>
                  <a:pt x="198937" y="91387"/>
                </a:moveTo>
                <a:cubicBezTo>
                  <a:pt x="192365" y="95738"/>
                  <a:pt x="184816" y="99247"/>
                  <a:pt x="176956" y="102044"/>
                </a:cubicBezTo>
                <a:cubicBezTo>
                  <a:pt x="156086" y="109504"/>
                  <a:pt x="128687" y="113678"/>
                  <a:pt x="99469" y="113678"/>
                </a:cubicBezTo>
                <a:cubicBezTo>
                  <a:pt x="70250" y="113678"/>
                  <a:pt x="42807" y="109460"/>
                  <a:pt x="21981" y="102044"/>
                </a:cubicBezTo>
                <a:cubicBezTo>
                  <a:pt x="14165" y="99247"/>
                  <a:pt x="6572" y="95738"/>
                  <a:pt x="0" y="91387"/>
                </a:cubicBezTo>
                <a:lnTo>
                  <a:pt x="0" y="127888"/>
                </a:lnTo>
                <a:cubicBezTo>
                  <a:pt x="0" y="147515"/>
                  <a:pt x="44539" y="163413"/>
                  <a:pt x="99469" y="163413"/>
                </a:cubicBezTo>
                <a:cubicBezTo>
                  <a:pt x="154398" y="163413"/>
                  <a:pt x="198937" y="147515"/>
                  <a:pt x="198937" y="127888"/>
                </a:cubicBezTo>
                <a:lnTo>
                  <a:pt x="198937" y="91387"/>
                </a:lnTo>
                <a:close/>
                <a:moveTo>
                  <a:pt x="198937" y="56839"/>
                </a:moveTo>
                <a:lnTo>
                  <a:pt x="198937" y="35524"/>
                </a:lnTo>
                <a:cubicBezTo>
                  <a:pt x="198937" y="15897"/>
                  <a:pt x="154398" y="0"/>
                  <a:pt x="99469" y="0"/>
                </a:cubicBezTo>
                <a:cubicBezTo>
                  <a:pt x="44539" y="0"/>
                  <a:pt x="0" y="15897"/>
                  <a:pt x="0" y="35524"/>
                </a:cubicBezTo>
                <a:lnTo>
                  <a:pt x="0" y="56839"/>
                </a:lnTo>
                <a:cubicBezTo>
                  <a:pt x="0" y="76466"/>
                  <a:pt x="44539" y="92364"/>
                  <a:pt x="99469" y="92364"/>
                </a:cubicBezTo>
                <a:cubicBezTo>
                  <a:pt x="154398" y="92364"/>
                  <a:pt x="198937" y="76466"/>
                  <a:pt x="198937" y="56839"/>
                </a:cubicBezTo>
                <a:close/>
                <a:moveTo>
                  <a:pt x="176956" y="173093"/>
                </a:moveTo>
                <a:cubicBezTo>
                  <a:pt x="156130" y="180509"/>
                  <a:pt x="128732" y="184727"/>
                  <a:pt x="99469" y="184727"/>
                </a:cubicBezTo>
                <a:cubicBezTo>
                  <a:pt x="70205" y="184727"/>
                  <a:pt x="42807" y="180509"/>
                  <a:pt x="21981" y="173093"/>
                </a:cubicBezTo>
                <a:cubicBezTo>
                  <a:pt x="14165" y="170295"/>
                  <a:pt x="6572" y="166787"/>
                  <a:pt x="0" y="162436"/>
                </a:cubicBezTo>
                <a:lnTo>
                  <a:pt x="0" y="191832"/>
                </a:lnTo>
                <a:cubicBezTo>
                  <a:pt x="0" y="211459"/>
                  <a:pt x="44539" y="227357"/>
                  <a:pt x="99469" y="227357"/>
                </a:cubicBezTo>
                <a:cubicBezTo>
                  <a:pt x="154398" y="227357"/>
                  <a:pt x="198937" y="211459"/>
                  <a:pt x="198937" y="191832"/>
                </a:cubicBezTo>
                <a:lnTo>
                  <a:pt x="198937" y="162436"/>
                </a:lnTo>
                <a:cubicBezTo>
                  <a:pt x="192365" y="166787"/>
                  <a:pt x="184816" y="170295"/>
                  <a:pt x="176956" y="173093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1" name="Text 59"/>
          <p:cNvSpPr/>
          <p:nvPr/>
        </p:nvSpPr>
        <p:spPr>
          <a:xfrm>
            <a:off x="6892192" y="5494452"/>
            <a:ext cx="248197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/ SQL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92192" y="5721809"/>
            <a:ext cx="247250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modeling, business queries, analysis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418533" y="6100737"/>
            <a:ext cx="5210256" cy="568392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</p:sp>
      <p:sp>
        <p:nvSpPr>
          <p:cNvPr id="64" name="Shape 62"/>
          <p:cNvSpPr/>
          <p:nvPr/>
        </p:nvSpPr>
        <p:spPr>
          <a:xfrm>
            <a:off x="6522738" y="6271254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4210" y="14210"/>
                </a:moveTo>
                <a:cubicBezTo>
                  <a:pt x="22070" y="14210"/>
                  <a:pt x="28420" y="20560"/>
                  <a:pt x="28420" y="28420"/>
                </a:cubicBezTo>
                <a:lnTo>
                  <a:pt x="28420" y="177622"/>
                </a:lnTo>
                <a:cubicBezTo>
                  <a:pt x="28420" y="181530"/>
                  <a:pt x="31617" y="184727"/>
                  <a:pt x="35524" y="184727"/>
                </a:cubicBezTo>
                <a:lnTo>
                  <a:pt x="213147" y="184727"/>
                </a:lnTo>
                <a:cubicBezTo>
                  <a:pt x="221007" y="184727"/>
                  <a:pt x="227357" y="191077"/>
                  <a:pt x="227357" y="198937"/>
                </a:cubicBezTo>
                <a:cubicBezTo>
                  <a:pt x="227357" y="206797"/>
                  <a:pt x="221007" y="213147"/>
                  <a:pt x="213147" y="213147"/>
                </a:cubicBezTo>
                <a:lnTo>
                  <a:pt x="35524" y="213147"/>
                </a:lnTo>
                <a:cubicBezTo>
                  <a:pt x="15897" y="213147"/>
                  <a:pt x="0" y="197250"/>
                  <a:pt x="0" y="177622"/>
                </a:cubicBezTo>
                <a:lnTo>
                  <a:pt x="0" y="28420"/>
                </a:lnTo>
                <a:cubicBezTo>
                  <a:pt x="0" y="20560"/>
                  <a:pt x="6350" y="14210"/>
                  <a:pt x="14210" y="14210"/>
                </a:cubicBezTo>
                <a:close/>
                <a:moveTo>
                  <a:pt x="56839" y="42629"/>
                </a:moveTo>
                <a:cubicBezTo>
                  <a:pt x="56839" y="34770"/>
                  <a:pt x="63189" y="28420"/>
                  <a:pt x="71049" y="28420"/>
                </a:cubicBezTo>
                <a:lnTo>
                  <a:pt x="156308" y="28420"/>
                </a:lnTo>
                <a:cubicBezTo>
                  <a:pt x="164167" y="28420"/>
                  <a:pt x="170517" y="34770"/>
                  <a:pt x="170517" y="42629"/>
                </a:cubicBezTo>
                <a:cubicBezTo>
                  <a:pt x="170517" y="50489"/>
                  <a:pt x="164167" y="56839"/>
                  <a:pt x="156308" y="56839"/>
                </a:cubicBezTo>
                <a:lnTo>
                  <a:pt x="71049" y="56839"/>
                </a:lnTo>
                <a:cubicBezTo>
                  <a:pt x="63189" y="56839"/>
                  <a:pt x="56839" y="50489"/>
                  <a:pt x="56839" y="42629"/>
                </a:cubicBezTo>
                <a:close/>
                <a:moveTo>
                  <a:pt x="71049" y="78154"/>
                </a:moveTo>
                <a:lnTo>
                  <a:pt x="127888" y="78154"/>
                </a:lnTo>
                <a:cubicBezTo>
                  <a:pt x="135748" y="78154"/>
                  <a:pt x="142098" y="84504"/>
                  <a:pt x="142098" y="92364"/>
                </a:cubicBezTo>
                <a:cubicBezTo>
                  <a:pt x="142098" y="100223"/>
                  <a:pt x="135748" y="106573"/>
                  <a:pt x="127888" y="106573"/>
                </a:cubicBezTo>
                <a:lnTo>
                  <a:pt x="71049" y="106573"/>
                </a:lnTo>
                <a:cubicBezTo>
                  <a:pt x="63189" y="106573"/>
                  <a:pt x="56839" y="100223"/>
                  <a:pt x="56839" y="92364"/>
                </a:cubicBezTo>
                <a:cubicBezTo>
                  <a:pt x="56839" y="84504"/>
                  <a:pt x="63189" y="78154"/>
                  <a:pt x="71049" y="78154"/>
                </a:cubicBezTo>
                <a:close/>
                <a:moveTo>
                  <a:pt x="71049" y="127888"/>
                </a:moveTo>
                <a:lnTo>
                  <a:pt x="184727" y="127888"/>
                </a:lnTo>
                <a:cubicBezTo>
                  <a:pt x="192587" y="127888"/>
                  <a:pt x="198937" y="134238"/>
                  <a:pt x="198937" y="142098"/>
                </a:cubicBezTo>
                <a:cubicBezTo>
                  <a:pt x="198937" y="149958"/>
                  <a:pt x="192587" y="156308"/>
                  <a:pt x="184727" y="156308"/>
                </a:cubicBezTo>
                <a:lnTo>
                  <a:pt x="71049" y="156308"/>
                </a:lnTo>
                <a:cubicBezTo>
                  <a:pt x="63189" y="156308"/>
                  <a:pt x="56839" y="149958"/>
                  <a:pt x="56839" y="142098"/>
                </a:cubicBezTo>
                <a:cubicBezTo>
                  <a:pt x="56839" y="134238"/>
                  <a:pt x="63189" y="127888"/>
                  <a:pt x="71049" y="127888"/>
                </a:cubicBezTo>
                <a:close/>
              </a:path>
            </a:pathLst>
          </a:custGeom>
          <a:solidFill>
            <a:srgbClr val="5A6B75"/>
          </a:solidFill>
          <a:ln/>
        </p:spPr>
      </p:sp>
      <p:sp>
        <p:nvSpPr>
          <p:cNvPr id="65" name="Text 63"/>
          <p:cNvSpPr/>
          <p:nvPr/>
        </p:nvSpPr>
        <p:spPr>
          <a:xfrm>
            <a:off x="6892192" y="6176522"/>
            <a:ext cx="1932531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92192" y="6403879"/>
            <a:ext cx="192305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executive dashboard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2849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spc="58" kern="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&amp; 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663510"/>
            <a:ext cx="11675937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3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Architecture &amp;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617" y="1216435"/>
            <a:ext cx="884680" cy="36862"/>
          </a:xfrm>
          <a:prstGeom prst="roundRect">
            <a:avLst>
              <a:gd name="adj" fmla="val 0"/>
            </a:avLst>
          </a:prstGeom>
          <a:solidFill>
            <a:srgbClr val="C5A57A"/>
          </a:solidFill>
          <a:ln/>
        </p:spPr>
      </p:sp>
      <p:sp>
        <p:nvSpPr>
          <p:cNvPr id="5" name="Shape 3"/>
          <p:cNvSpPr/>
          <p:nvPr/>
        </p:nvSpPr>
        <p:spPr>
          <a:xfrm>
            <a:off x="368617" y="1437605"/>
            <a:ext cx="5649052" cy="302265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5293" dist="36862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2925" y="1621914"/>
            <a:ext cx="368617" cy="368617"/>
          </a:xfrm>
          <a:prstGeom prst="roundRect">
            <a:avLst>
              <a:gd name="adj" fmla="val 50000"/>
            </a:avLst>
          </a:prstGeom>
          <a:solidFill>
            <a:srgbClr val="1A2E35"/>
          </a:solidFill>
          <a:ln/>
        </p:spPr>
      </p:sp>
      <p:sp>
        <p:nvSpPr>
          <p:cNvPr id="7" name="Shape 5"/>
          <p:cNvSpPr/>
          <p:nvPr/>
        </p:nvSpPr>
        <p:spPr>
          <a:xfrm>
            <a:off x="672726" y="1732499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73723" y="46077"/>
                </a:moveTo>
                <a:lnTo>
                  <a:pt x="73723" y="73723"/>
                </a:lnTo>
                <a:lnTo>
                  <a:pt x="110585" y="73723"/>
                </a:lnTo>
                <a:lnTo>
                  <a:pt x="110585" y="46077"/>
                </a:lnTo>
                <a:lnTo>
                  <a:pt x="73723" y="46077"/>
                </a:lnTo>
                <a:close/>
                <a:moveTo>
                  <a:pt x="55293" y="46077"/>
                </a:moveTo>
                <a:lnTo>
                  <a:pt x="18431" y="46077"/>
                </a:lnTo>
                <a:lnTo>
                  <a:pt x="18431" y="73723"/>
                </a:lnTo>
                <a:lnTo>
                  <a:pt x="55293" y="73723"/>
                </a:lnTo>
                <a:lnTo>
                  <a:pt x="55293" y="46077"/>
                </a:lnTo>
                <a:close/>
                <a:moveTo>
                  <a:pt x="0" y="92154"/>
                </a:moveTo>
                <a:lnTo>
                  <a:pt x="0" y="27646"/>
                </a:lnTo>
                <a:cubicBezTo>
                  <a:pt x="0" y="17480"/>
                  <a:pt x="8265" y="9215"/>
                  <a:pt x="18431" y="9215"/>
                </a:cubicBezTo>
                <a:lnTo>
                  <a:pt x="110585" y="9215"/>
                </a:lnTo>
                <a:cubicBezTo>
                  <a:pt x="120751" y="9215"/>
                  <a:pt x="129016" y="17480"/>
                  <a:pt x="129016" y="27646"/>
                </a:cubicBezTo>
                <a:lnTo>
                  <a:pt x="129016" y="119800"/>
                </a:lnTo>
                <a:cubicBezTo>
                  <a:pt x="129016" y="129966"/>
                  <a:pt x="120751" y="138231"/>
                  <a:pt x="110585" y="138231"/>
                </a:cubicBezTo>
                <a:lnTo>
                  <a:pt x="18431" y="138231"/>
                </a:lnTo>
                <a:cubicBezTo>
                  <a:pt x="8265" y="138231"/>
                  <a:pt x="0" y="129966"/>
                  <a:pt x="0" y="119800"/>
                </a:cubicBezTo>
                <a:lnTo>
                  <a:pt x="0" y="92154"/>
                </a:lnTo>
                <a:close/>
                <a:moveTo>
                  <a:pt x="110585" y="92154"/>
                </a:moveTo>
                <a:lnTo>
                  <a:pt x="73723" y="92154"/>
                </a:lnTo>
                <a:lnTo>
                  <a:pt x="73723" y="119800"/>
                </a:lnTo>
                <a:lnTo>
                  <a:pt x="110585" y="119800"/>
                </a:lnTo>
                <a:lnTo>
                  <a:pt x="110585" y="92154"/>
                </a:lnTo>
                <a:close/>
                <a:moveTo>
                  <a:pt x="55293" y="119800"/>
                </a:moveTo>
                <a:lnTo>
                  <a:pt x="55293" y="92154"/>
                </a:lnTo>
                <a:lnTo>
                  <a:pt x="18431" y="92154"/>
                </a:lnTo>
                <a:lnTo>
                  <a:pt x="18431" y="119800"/>
                </a:lnTo>
                <a:lnTo>
                  <a:pt x="55293" y="11980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Text 6"/>
          <p:cNvSpPr/>
          <p:nvPr/>
        </p:nvSpPr>
        <p:spPr>
          <a:xfrm>
            <a:off x="1032127" y="1677206"/>
            <a:ext cx="125329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Tables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925" y="2137977"/>
            <a:ext cx="5280435" cy="368617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26649" y="2211701"/>
            <a:ext cx="67272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29740" y="2211701"/>
            <a:ext cx="120722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 rows, 10 cols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925" y="2580317"/>
            <a:ext cx="5280435" cy="368617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649" y="2654041"/>
            <a:ext cx="949188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08932" y="2654041"/>
            <a:ext cx="132702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5,000 rows, 14 cols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2925" y="3022658"/>
            <a:ext cx="5280435" cy="368617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649" y="3096381"/>
            <a:ext cx="100448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feature_usage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78694" y="3096381"/>
            <a:ext cx="135466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25,000 rows, 8 cols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925" y="3464998"/>
            <a:ext cx="5280435" cy="368617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26649" y="3538721"/>
            <a:ext cx="108742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support_tickets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65952" y="3538721"/>
            <a:ext cx="1271728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2,000 rows, 9 cols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2925" y="3907338"/>
            <a:ext cx="5280435" cy="368617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649" y="3981061"/>
            <a:ext cx="949188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churn_events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91368" y="3981061"/>
            <a:ext cx="1142712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600 rows, 9 cols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8139" y="1437605"/>
            <a:ext cx="5649052" cy="302265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5293" dist="36862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2448" y="1621914"/>
            <a:ext cx="368617" cy="368617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3033" y="1732499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0" y="23039"/>
                </a:moveTo>
                <a:cubicBezTo>
                  <a:pt x="0" y="15407"/>
                  <a:pt x="6192" y="9215"/>
                  <a:pt x="13823" y="9215"/>
                </a:cubicBezTo>
                <a:lnTo>
                  <a:pt x="41469" y="9215"/>
                </a:lnTo>
                <a:cubicBezTo>
                  <a:pt x="49101" y="9215"/>
                  <a:pt x="55293" y="15407"/>
                  <a:pt x="55293" y="23039"/>
                </a:cubicBezTo>
                <a:lnTo>
                  <a:pt x="55293" y="27646"/>
                </a:lnTo>
                <a:lnTo>
                  <a:pt x="92154" y="27646"/>
                </a:lnTo>
                <a:lnTo>
                  <a:pt x="92154" y="23039"/>
                </a:lnTo>
                <a:cubicBezTo>
                  <a:pt x="92154" y="15407"/>
                  <a:pt x="98346" y="9215"/>
                  <a:pt x="105977" y="9215"/>
                </a:cubicBezTo>
                <a:lnTo>
                  <a:pt x="133624" y="9215"/>
                </a:lnTo>
                <a:cubicBezTo>
                  <a:pt x="141255" y="9215"/>
                  <a:pt x="147447" y="15407"/>
                  <a:pt x="147447" y="23039"/>
                </a:cubicBezTo>
                <a:lnTo>
                  <a:pt x="147447" y="50685"/>
                </a:lnTo>
                <a:cubicBezTo>
                  <a:pt x="147447" y="58316"/>
                  <a:pt x="141255" y="64508"/>
                  <a:pt x="133624" y="64508"/>
                </a:cubicBezTo>
                <a:lnTo>
                  <a:pt x="105977" y="64508"/>
                </a:lnTo>
                <a:cubicBezTo>
                  <a:pt x="98346" y="64508"/>
                  <a:pt x="92154" y="58316"/>
                  <a:pt x="92154" y="50685"/>
                </a:cubicBezTo>
                <a:lnTo>
                  <a:pt x="92154" y="46077"/>
                </a:lnTo>
                <a:lnTo>
                  <a:pt x="55293" y="46077"/>
                </a:lnTo>
                <a:lnTo>
                  <a:pt x="55293" y="50685"/>
                </a:lnTo>
                <a:cubicBezTo>
                  <a:pt x="55293" y="52787"/>
                  <a:pt x="54803" y="54803"/>
                  <a:pt x="53968" y="56588"/>
                </a:cubicBezTo>
                <a:lnTo>
                  <a:pt x="73723" y="82939"/>
                </a:lnTo>
                <a:lnTo>
                  <a:pt x="96762" y="82939"/>
                </a:lnTo>
                <a:cubicBezTo>
                  <a:pt x="104393" y="82939"/>
                  <a:pt x="110585" y="89130"/>
                  <a:pt x="110585" y="96762"/>
                </a:cubicBezTo>
                <a:lnTo>
                  <a:pt x="110585" y="124408"/>
                </a:lnTo>
                <a:cubicBezTo>
                  <a:pt x="110585" y="132040"/>
                  <a:pt x="104393" y="138231"/>
                  <a:pt x="96762" y="138231"/>
                </a:cubicBezTo>
                <a:lnTo>
                  <a:pt x="69116" y="138231"/>
                </a:lnTo>
                <a:cubicBezTo>
                  <a:pt x="61484" y="138231"/>
                  <a:pt x="55293" y="132040"/>
                  <a:pt x="55293" y="124408"/>
                </a:cubicBezTo>
                <a:lnTo>
                  <a:pt x="55293" y="96762"/>
                </a:lnTo>
                <a:cubicBezTo>
                  <a:pt x="55293" y="94660"/>
                  <a:pt x="55782" y="92644"/>
                  <a:pt x="56617" y="90858"/>
                </a:cubicBezTo>
                <a:lnTo>
                  <a:pt x="36862" y="64508"/>
                </a:lnTo>
                <a:lnTo>
                  <a:pt x="13823" y="64508"/>
                </a:lnTo>
                <a:cubicBezTo>
                  <a:pt x="6192" y="64508"/>
                  <a:pt x="0" y="58316"/>
                  <a:pt x="0" y="50685"/>
                </a:cubicBezTo>
                <a:lnTo>
                  <a:pt x="0" y="230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31650" y="1677206"/>
            <a:ext cx="1161143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2448" y="2137977"/>
            <a:ext cx="294893" cy="294893"/>
          </a:xfrm>
          <a:prstGeom prst="roundRect">
            <a:avLst>
              <a:gd name="adj" fmla="val 50000"/>
            </a:avLst>
          </a:prstGeom>
          <a:solidFill>
            <a:srgbClr val="1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6320194" y="2137977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57926" y="2137977"/>
            <a:ext cx="3584798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57926" y="2359147"/>
            <a:ext cx="3584798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Loaded all tables from PostgreSQL using SQLAlchemy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2448" y="2690902"/>
            <a:ext cx="294893" cy="294893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33" name="Text 31"/>
          <p:cNvSpPr/>
          <p:nvPr/>
        </p:nvSpPr>
        <p:spPr>
          <a:xfrm>
            <a:off x="6320194" y="2690902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57926" y="2690902"/>
            <a:ext cx="313324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57926" y="2912073"/>
            <a:ext cx="313324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cleaning, validation, feature engineering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2448" y="3243828"/>
            <a:ext cx="294893" cy="294893"/>
          </a:xfrm>
          <a:prstGeom prst="roundRect">
            <a:avLst>
              <a:gd name="adj" fmla="val 50000"/>
            </a:avLst>
          </a:prstGeom>
          <a:solidFill>
            <a:srgbClr val="5A6B75"/>
          </a:solidFill>
          <a:ln/>
        </p:spPr>
      </p:sp>
      <p:sp>
        <p:nvSpPr>
          <p:cNvPr id="37" name="Text 35"/>
          <p:cNvSpPr/>
          <p:nvPr/>
        </p:nvSpPr>
        <p:spPr>
          <a:xfrm>
            <a:off x="6320194" y="3243828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57926" y="3243828"/>
            <a:ext cx="383361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57926" y="3464998"/>
            <a:ext cx="383361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Customer_metrics table back to PostgreSQL + CSV export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2448" y="3796753"/>
            <a:ext cx="294893" cy="294893"/>
          </a:xfrm>
          <a:prstGeom prst="roundRect">
            <a:avLst>
              <a:gd name="adj" fmla="val 50000"/>
            </a:avLst>
          </a:prstGeom>
          <a:solidFill>
            <a:srgbClr val="1A2E35"/>
          </a:solidFill>
          <a:ln/>
        </p:spPr>
      </p:sp>
      <p:sp>
        <p:nvSpPr>
          <p:cNvPr id="41" name="Text 39"/>
          <p:cNvSpPr/>
          <p:nvPr/>
        </p:nvSpPr>
        <p:spPr>
          <a:xfrm>
            <a:off x="6320194" y="3796753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57926" y="3796753"/>
            <a:ext cx="312402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57926" y="4017923"/>
            <a:ext cx="312402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dashboard for executive consumption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68617" y="4607710"/>
            <a:ext cx="11454766" cy="224856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5293" dist="36862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2925" y="4792018"/>
            <a:ext cx="368617" cy="368617"/>
          </a:xfrm>
          <a:prstGeom prst="roundRect">
            <a:avLst>
              <a:gd name="adj" fmla="val 50000"/>
            </a:avLst>
          </a:prstGeom>
          <a:solidFill>
            <a:srgbClr val="5A6B75"/>
          </a:solidFill>
          <a:ln/>
        </p:spPr>
      </p:sp>
      <p:sp>
        <p:nvSpPr>
          <p:cNvPr id="46" name="Shape 44"/>
          <p:cNvSpPr/>
          <p:nvPr/>
        </p:nvSpPr>
        <p:spPr>
          <a:xfrm>
            <a:off x="663510" y="4902603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1032127" y="4847311"/>
            <a:ext cx="2119546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Assessment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71356" y="5308082"/>
            <a:ext cx="3575583" cy="1363882"/>
          </a:xfrm>
          <a:custGeom>
            <a:avLst/>
            <a:gdLst/>
            <a:ahLst/>
            <a:cxnLst/>
            <a:rect l="l" t="t" r="r" b="b"/>
            <a:pathLst>
              <a:path w="3575583" h="1363882">
                <a:moveTo>
                  <a:pt x="36830" y="0"/>
                </a:moveTo>
                <a:lnTo>
                  <a:pt x="3538728" y="0"/>
                </a:lnTo>
                <a:cubicBezTo>
                  <a:pt x="3559069" y="0"/>
                  <a:pt x="3575558" y="16489"/>
                  <a:pt x="3575558" y="36830"/>
                </a:cubicBezTo>
                <a:lnTo>
                  <a:pt x="3575558" y="1327023"/>
                </a:lnTo>
                <a:cubicBezTo>
                  <a:pt x="3575558" y="1347364"/>
                  <a:pt x="3559069" y="1363853"/>
                  <a:pt x="3538728" y="1363853"/>
                </a:cubicBezTo>
                <a:lnTo>
                  <a:pt x="36830" y="1363853"/>
                </a:lnTo>
                <a:cubicBezTo>
                  <a:pt x="16489" y="1363853"/>
                  <a:pt x="0" y="1347364"/>
                  <a:pt x="0" y="1327023"/>
                </a:cubicBezTo>
                <a:lnTo>
                  <a:pt x="0" y="36830"/>
                </a:lnTo>
                <a:cubicBezTo>
                  <a:pt x="0" y="16503"/>
                  <a:pt x="16503" y="0"/>
                  <a:pt x="3683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9" name="Shape 47"/>
          <p:cNvSpPr/>
          <p:nvPr/>
        </p:nvSpPr>
        <p:spPr>
          <a:xfrm>
            <a:off x="571356" y="5308082"/>
            <a:ext cx="36862" cy="1363882"/>
          </a:xfrm>
          <a:custGeom>
            <a:avLst/>
            <a:gdLst/>
            <a:ahLst/>
            <a:cxnLst/>
            <a:rect l="l" t="t" r="r" b="b"/>
            <a:pathLst>
              <a:path w="36862" h="1363882">
                <a:moveTo>
                  <a:pt x="36830" y="0"/>
                </a:moveTo>
                <a:lnTo>
                  <a:pt x="36830" y="0"/>
                </a:lnTo>
                <a:lnTo>
                  <a:pt x="36830" y="1363853"/>
                </a:lnTo>
                <a:lnTo>
                  <a:pt x="36830" y="1363853"/>
                </a:lnTo>
                <a:cubicBezTo>
                  <a:pt x="16489" y="1363853"/>
                  <a:pt x="0" y="1347364"/>
                  <a:pt x="0" y="1327023"/>
                </a:cubicBezTo>
                <a:lnTo>
                  <a:pt x="0" y="36830"/>
                </a:lnTo>
                <a:cubicBezTo>
                  <a:pt x="0" y="16503"/>
                  <a:pt x="16503" y="0"/>
                  <a:pt x="3683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0" name="Text 48"/>
          <p:cNvSpPr/>
          <p:nvPr/>
        </p:nvSpPr>
        <p:spPr>
          <a:xfrm>
            <a:off x="700372" y="5418667"/>
            <a:ext cx="340970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Validation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0372" y="5676698"/>
            <a:ext cx="3409705" cy="88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Tested churn_flag alignment with subscriptions.end_date — found mismatch, switched to churn_events.churn_date as sole reliable exit signal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14832" y="5308082"/>
            <a:ext cx="3575583" cy="1363882"/>
          </a:xfrm>
          <a:custGeom>
            <a:avLst/>
            <a:gdLst/>
            <a:ahLst/>
            <a:cxnLst/>
            <a:rect l="l" t="t" r="r" b="b"/>
            <a:pathLst>
              <a:path w="3575583" h="1363882">
                <a:moveTo>
                  <a:pt x="36830" y="0"/>
                </a:moveTo>
                <a:lnTo>
                  <a:pt x="3538728" y="0"/>
                </a:lnTo>
                <a:cubicBezTo>
                  <a:pt x="3559069" y="0"/>
                  <a:pt x="3575558" y="16489"/>
                  <a:pt x="3575558" y="36830"/>
                </a:cubicBezTo>
                <a:lnTo>
                  <a:pt x="3575558" y="1327023"/>
                </a:lnTo>
                <a:cubicBezTo>
                  <a:pt x="3575558" y="1347364"/>
                  <a:pt x="3559069" y="1363853"/>
                  <a:pt x="3538728" y="1363853"/>
                </a:cubicBezTo>
                <a:lnTo>
                  <a:pt x="36830" y="1363853"/>
                </a:lnTo>
                <a:cubicBezTo>
                  <a:pt x="16489" y="1363853"/>
                  <a:pt x="0" y="1347364"/>
                  <a:pt x="0" y="1327023"/>
                </a:cubicBezTo>
                <a:lnTo>
                  <a:pt x="0" y="36830"/>
                </a:lnTo>
                <a:cubicBezTo>
                  <a:pt x="0" y="16503"/>
                  <a:pt x="16503" y="0"/>
                  <a:pt x="3683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3" name="Shape 51"/>
          <p:cNvSpPr/>
          <p:nvPr/>
        </p:nvSpPr>
        <p:spPr>
          <a:xfrm>
            <a:off x="4314832" y="5308082"/>
            <a:ext cx="36862" cy="1363882"/>
          </a:xfrm>
          <a:custGeom>
            <a:avLst/>
            <a:gdLst/>
            <a:ahLst/>
            <a:cxnLst/>
            <a:rect l="l" t="t" r="r" b="b"/>
            <a:pathLst>
              <a:path w="36862" h="1363882">
                <a:moveTo>
                  <a:pt x="36830" y="0"/>
                </a:moveTo>
                <a:lnTo>
                  <a:pt x="36830" y="0"/>
                </a:lnTo>
                <a:lnTo>
                  <a:pt x="36830" y="1363853"/>
                </a:lnTo>
                <a:lnTo>
                  <a:pt x="36830" y="1363853"/>
                </a:lnTo>
                <a:cubicBezTo>
                  <a:pt x="16489" y="1363853"/>
                  <a:pt x="0" y="1347364"/>
                  <a:pt x="0" y="1327023"/>
                </a:cubicBezTo>
                <a:lnTo>
                  <a:pt x="0" y="36830"/>
                </a:lnTo>
                <a:cubicBezTo>
                  <a:pt x="0" y="16503"/>
                  <a:pt x="16503" y="0"/>
                  <a:pt x="3683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4" name="Text 52"/>
          <p:cNvSpPr/>
          <p:nvPr/>
        </p:nvSpPr>
        <p:spPr>
          <a:xfrm>
            <a:off x="4443848" y="5418667"/>
            <a:ext cx="340970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 Consistency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443848" y="5676698"/>
            <a:ext cx="3409705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violations: no subscriptions starting after end date or before account signup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58308" y="5308082"/>
            <a:ext cx="3575583" cy="1363882"/>
          </a:xfrm>
          <a:custGeom>
            <a:avLst/>
            <a:gdLst/>
            <a:ahLst/>
            <a:cxnLst/>
            <a:rect l="l" t="t" r="r" b="b"/>
            <a:pathLst>
              <a:path w="3575583" h="1363882">
                <a:moveTo>
                  <a:pt x="36830" y="0"/>
                </a:moveTo>
                <a:lnTo>
                  <a:pt x="3538728" y="0"/>
                </a:lnTo>
                <a:cubicBezTo>
                  <a:pt x="3559069" y="0"/>
                  <a:pt x="3575558" y="16489"/>
                  <a:pt x="3575558" y="36830"/>
                </a:cubicBezTo>
                <a:lnTo>
                  <a:pt x="3575558" y="1327023"/>
                </a:lnTo>
                <a:cubicBezTo>
                  <a:pt x="3575558" y="1347364"/>
                  <a:pt x="3559069" y="1363853"/>
                  <a:pt x="3538728" y="1363853"/>
                </a:cubicBezTo>
                <a:lnTo>
                  <a:pt x="36830" y="1363853"/>
                </a:lnTo>
                <a:cubicBezTo>
                  <a:pt x="16489" y="1363853"/>
                  <a:pt x="0" y="1347364"/>
                  <a:pt x="0" y="1327023"/>
                </a:cubicBezTo>
                <a:lnTo>
                  <a:pt x="0" y="36830"/>
                </a:lnTo>
                <a:cubicBezTo>
                  <a:pt x="0" y="16503"/>
                  <a:pt x="16503" y="0"/>
                  <a:pt x="3683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7" name="Shape 55"/>
          <p:cNvSpPr/>
          <p:nvPr/>
        </p:nvSpPr>
        <p:spPr>
          <a:xfrm>
            <a:off x="8058308" y="5308082"/>
            <a:ext cx="36862" cy="1363882"/>
          </a:xfrm>
          <a:custGeom>
            <a:avLst/>
            <a:gdLst/>
            <a:ahLst/>
            <a:cxnLst/>
            <a:rect l="l" t="t" r="r" b="b"/>
            <a:pathLst>
              <a:path w="36862" h="1363882">
                <a:moveTo>
                  <a:pt x="36830" y="0"/>
                </a:moveTo>
                <a:lnTo>
                  <a:pt x="36830" y="0"/>
                </a:lnTo>
                <a:lnTo>
                  <a:pt x="36830" y="1363853"/>
                </a:lnTo>
                <a:lnTo>
                  <a:pt x="36830" y="1363853"/>
                </a:lnTo>
                <a:cubicBezTo>
                  <a:pt x="16489" y="1363853"/>
                  <a:pt x="0" y="1347364"/>
                  <a:pt x="0" y="1327023"/>
                </a:cubicBezTo>
                <a:lnTo>
                  <a:pt x="0" y="36830"/>
                </a:lnTo>
                <a:cubicBezTo>
                  <a:pt x="0" y="16503"/>
                  <a:pt x="16503" y="0"/>
                  <a:pt x="3683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8" name="Text 56"/>
          <p:cNvSpPr/>
          <p:nvPr/>
        </p:nvSpPr>
        <p:spPr>
          <a:xfrm>
            <a:off x="8187324" y="5418667"/>
            <a:ext cx="340970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Data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187324" y="5676698"/>
            <a:ext cx="3409705" cy="66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Satisfaction scores null for 32 accounts (no tickets); feedback_text optional; end_date null for active subscriptions — all handled appropriately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3543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spc="57" kern="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MODELING &amp;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56562"/>
            <a:ext cx="1168134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Analytics &amp; KPI Calculations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57" y="1203698"/>
            <a:ext cx="875417" cy="36476"/>
          </a:xfrm>
          <a:prstGeom prst="roundRect">
            <a:avLst>
              <a:gd name="adj" fmla="val 0"/>
            </a:avLst>
          </a:prstGeom>
          <a:solidFill>
            <a:srgbClr val="C5A57A"/>
          </a:solidFill>
          <a:ln/>
        </p:spPr>
      </p:sp>
      <p:sp>
        <p:nvSpPr>
          <p:cNvPr id="5" name="Shape 3"/>
          <p:cNvSpPr/>
          <p:nvPr/>
        </p:nvSpPr>
        <p:spPr>
          <a:xfrm>
            <a:off x="364757" y="1422552"/>
            <a:ext cx="7596063" cy="1787309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4714" dist="36476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135" y="1604930"/>
            <a:ext cx="364757" cy="364757"/>
          </a:xfrm>
          <a:prstGeom prst="roundRect">
            <a:avLst>
              <a:gd name="adj" fmla="val 50000"/>
            </a:avLst>
          </a:prstGeom>
          <a:solidFill>
            <a:srgbClr val="1A2E35"/>
          </a:solidFill>
          <a:ln/>
        </p:spPr>
      </p:sp>
      <p:sp>
        <p:nvSpPr>
          <p:cNvPr id="7" name="Shape 5"/>
          <p:cNvSpPr/>
          <p:nvPr/>
        </p:nvSpPr>
        <p:spPr>
          <a:xfrm>
            <a:off x="638325" y="1714358"/>
            <a:ext cx="182378" cy="145903"/>
          </a:xfrm>
          <a:custGeom>
            <a:avLst/>
            <a:gdLst/>
            <a:ahLst/>
            <a:cxnLst/>
            <a:rect l="l" t="t" r="r" b="b"/>
            <a:pathLst>
              <a:path w="182378" h="145903">
                <a:moveTo>
                  <a:pt x="118518" y="59985"/>
                </a:moveTo>
                <a:cubicBezTo>
                  <a:pt x="121994" y="59045"/>
                  <a:pt x="125642" y="60698"/>
                  <a:pt x="127209" y="63918"/>
                </a:cubicBezTo>
                <a:lnTo>
                  <a:pt x="132509" y="74633"/>
                </a:lnTo>
                <a:cubicBezTo>
                  <a:pt x="135445" y="75032"/>
                  <a:pt x="138323" y="75830"/>
                  <a:pt x="141030" y="76941"/>
                </a:cubicBezTo>
                <a:lnTo>
                  <a:pt x="151004" y="70301"/>
                </a:lnTo>
                <a:cubicBezTo>
                  <a:pt x="153996" y="68306"/>
                  <a:pt x="157957" y="68705"/>
                  <a:pt x="160493" y="71242"/>
                </a:cubicBezTo>
                <a:lnTo>
                  <a:pt x="165964" y="76713"/>
                </a:lnTo>
                <a:cubicBezTo>
                  <a:pt x="168501" y="79249"/>
                  <a:pt x="168900" y="83239"/>
                  <a:pt x="166905" y="86202"/>
                </a:cubicBezTo>
                <a:lnTo>
                  <a:pt x="160265" y="96148"/>
                </a:lnTo>
                <a:cubicBezTo>
                  <a:pt x="160807" y="97487"/>
                  <a:pt x="161291" y="98883"/>
                  <a:pt x="161690" y="100337"/>
                </a:cubicBezTo>
                <a:cubicBezTo>
                  <a:pt x="162089" y="101790"/>
                  <a:pt x="162345" y="103215"/>
                  <a:pt x="162545" y="104668"/>
                </a:cubicBezTo>
                <a:lnTo>
                  <a:pt x="173288" y="109969"/>
                </a:lnTo>
                <a:cubicBezTo>
                  <a:pt x="176508" y="111564"/>
                  <a:pt x="178161" y="115212"/>
                  <a:pt x="177221" y="118660"/>
                </a:cubicBezTo>
                <a:lnTo>
                  <a:pt x="175226" y="126126"/>
                </a:lnTo>
                <a:cubicBezTo>
                  <a:pt x="174285" y="129574"/>
                  <a:pt x="171065" y="131911"/>
                  <a:pt x="167475" y="131683"/>
                </a:cubicBezTo>
                <a:lnTo>
                  <a:pt x="155506" y="130914"/>
                </a:lnTo>
                <a:cubicBezTo>
                  <a:pt x="153711" y="133222"/>
                  <a:pt x="151631" y="135359"/>
                  <a:pt x="149265" y="137183"/>
                </a:cubicBezTo>
                <a:lnTo>
                  <a:pt x="150035" y="149123"/>
                </a:lnTo>
                <a:cubicBezTo>
                  <a:pt x="150263" y="152713"/>
                  <a:pt x="147926" y="155962"/>
                  <a:pt x="144478" y="156874"/>
                </a:cubicBezTo>
                <a:lnTo>
                  <a:pt x="137012" y="158869"/>
                </a:lnTo>
                <a:cubicBezTo>
                  <a:pt x="133535" y="159809"/>
                  <a:pt x="129916" y="158156"/>
                  <a:pt x="128320" y="154936"/>
                </a:cubicBezTo>
                <a:lnTo>
                  <a:pt x="123020" y="144221"/>
                </a:lnTo>
                <a:cubicBezTo>
                  <a:pt x="120085" y="143823"/>
                  <a:pt x="117207" y="143025"/>
                  <a:pt x="114499" y="141913"/>
                </a:cubicBezTo>
                <a:lnTo>
                  <a:pt x="104526" y="148553"/>
                </a:lnTo>
                <a:cubicBezTo>
                  <a:pt x="101534" y="150548"/>
                  <a:pt x="97572" y="150149"/>
                  <a:pt x="95036" y="147613"/>
                </a:cubicBezTo>
                <a:lnTo>
                  <a:pt x="89565" y="142141"/>
                </a:lnTo>
                <a:cubicBezTo>
                  <a:pt x="87029" y="139605"/>
                  <a:pt x="86630" y="135644"/>
                  <a:pt x="88625" y="132652"/>
                </a:cubicBezTo>
                <a:lnTo>
                  <a:pt x="95264" y="122678"/>
                </a:lnTo>
                <a:cubicBezTo>
                  <a:pt x="94723" y="121339"/>
                  <a:pt x="94238" y="119942"/>
                  <a:pt x="93839" y="118489"/>
                </a:cubicBezTo>
                <a:cubicBezTo>
                  <a:pt x="93440" y="117036"/>
                  <a:pt x="93184" y="115582"/>
                  <a:pt x="92985" y="114158"/>
                </a:cubicBezTo>
                <a:lnTo>
                  <a:pt x="82241" y="108857"/>
                </a:lnTo>
                <a:cubicBezTo>
                  <a:pt x="79021" y="107261"/>
                  <a:pt x="77397" y="103614"/>
                  <a:pt x="78309" y="100166"/>
                </a:cubicBezTo>
                <a:lnTo>
                  <a:pt x="80304" y="92700"/>
                </a:lnTo>
                <a:cubicBezTo>
                  <a:pt x="81244" y="89251"/>
                  <a:pt x="84464" y="86915"/>
                  <a:pt x="88055" y="87143"/>
                </a:cubicBezTo>
                <a:lnTo>
                  <a:pt x="99995" y="87912"/>
                </a:lnTo>
                <a:cubicBezTo>
                  <a:pt x="101790" y="85604"/>
                  <a:pt x="103870" y="83467"/>
                  <a:pt x="106235" y="81643"/>
                </a:cubicBezTo>
                <a:lnTo>
                  <a:pt x="105466" y="69731"/>
                </a:lnTo>
                <a:cubicBezTo>
                  <a:pt x="105238" y="66141"/>
                  <a:pt x="107575" y="62892"/>
                  <a:pt x="111023" y="61980"/>
                </a:cubicBezTo>
                <a:lnTo>
                  <a:pt x="118489" y="59985"/>
                </a:lnTo>
                <a:close/>
                <a:moveTo>
                  <a:pt x="127779" y="96889"/>
                </a:moveTo>
                <a:cubicBezTo>
                  <a:pt x="120859" y="96896"/>
                  <a:pt x="115247" y="102521"/>
                  <a:pt x="115255" y="109441"/>
                </a:cubicBezTo>
                <a:cubicBezTo>
                  <a:pt x="115263" y="116362"/>
                  <a:pt x="120887" y="121973"/>
                  <a:pt x="127807" y="121966"/>
                </a:cubicBezTo>
                <a:cubicBezTo>
                  <a:pt x="134728" y="121958"/>
                  <a:pt x="140340" y="116333"/>
                  <a:pt x="140332" y="109413"/>
                </a:cubicBezTo>
                <a:cubicBezTo>
                  <a:pt x="140324" y="102493"/>
                  <a:pt x="134699" y="96881"/>
                  <a:pt x="127779" y="96889"/>
                </a:cubicBezTo>
                <a:close/>
                <a:moveTo>
                  <a:pt x="64089" y="-12966"/>
                </a:moveTo>
                <a:lnTo>
                  <a:pt x="71555" y="-10971"/>
                </a:lnTo>
                <a:cubicBezTo>
                  <a:pt x="75003" y="-10031"/>
                  <a:pt x="77340" y="-6782"/>
                  <a:pt x="77112" y="-3220"/>
                </a:cubicBezTo>
                <a:lnTo>
                  <a:pt x="76342" y="8691"/>
                </a:lnTo>
                <a:cubicBezTo>
                  <a:pt x="78708" y="10515"/>
                  <a:pt x="80788" y="12624"/>
                  <a:pt x="82583" y="14961"/>
                </a:cubicBezTo>
                <a:lnTo>
                  <a:pt x="94552" y="14191"/>
                </a:lnTo>
                <a:cubicBezTo>
                  <a:pt x="98114" y="13963"/>
                  <a:pt x="101363" y="16300"/>
                  <a:pt x="102303" y="19748"/>
                </a:cubicBezTo>
                <a:lnTo>
                  <a:pt x="104298" y="27214"/>
                </a:lnTo>
                <a:cubicBezTo>
                  <a:pt x="105210" y="30662"/>
                  <a:pt x="103585" y="34310"/>
                  <a:pt x="100365" y="35906"/>
                </a:cubicBezTo>
                <a:lnTo>
                  <a:pt x="89622" y="41206"/>
                </a:lnTo>
                <a:cubicBezTo>
                  <a:pt x="89422" y="42659"/>
                  <a:pt x="89137" y="44113"/>
                  <a:pt x="88767" y="45538"/>
                </a:cubicBezTo>
                <a:cubicBezTo>
                  <a:pt x="88397" y="46962"/>
                  <a:pt x="87884" y="48387"/>
                  <a:pt x="87342" y="49727"/>
                </a:cubicBezTo>
                <a:lnTo>
                  <a:pt x="93982" y="59700"/>
                </a:lnTo>
                <a:cubicBezTo>
                  <a:pt x="95977" y="62693"/>
                  <a:pt x="95578" y="66654"/>
                  <a:pt x="93042" y="69190"/>
                </a:cubicBezTo>
                <a:lnTo>
                  <a:pt x="87570" y="74661"/>
                </a:lnTo>
                <a:cubicBezTo>
                  <a:pt x="85034" y="77197"/>
                  <a:pt x="81073" y="77596"/>
                  <a:pt x="78081" y="75602"/>
                </a:cubicBezTo>
                <a:lnTo>
                  <a:pt x="68107" y="68962"/>
                </a:lnTo>
                <a:cubicBezTo>
                  <a:pt x="65400" y="70073"/>
                  <a:pt x="62522" y="70871"/>
                  <a:pt x="59586" y="71270"/>
                </a:cubicBezTo>
                <a:lnTo>
                  <a:pt x="54286" y="81985"/>
                </a:lnTo>
                <a:cubicBezTo>
                  <a:pt x="52690" y="85205"/>
                  <a:pt x="49043" y="86829"/>
                  <a:pt x="45595" y="85917"/>
                </a:cubicBezTo>
                <a:lnTo>
                  <a:pt x="38128" y="83923"/>
                </a:lnTo>
                <a:cubicBezTo>
                  <a:pt x="34652" y="82982"/>
                  <a:pt x="32344" y="79734"/>
                  <a:pt x="32572" y="76172"/>
                </a:cubicBezTo>
                <a:lnTo>
                  <a:pt x="33341" y="64231"/>
                </a:lnTo>
                <a:cubicBezTo>
                  <a:pt x="30976" y="62408"/>
                  <a:pt x="28896" y="60299"/>
                  <a:pt x="27100" y="57962"/>
                </a:cubicBezTo>
                <a:lnTo>
                  <a:pt x="15132" y="58732"/>
                </a:lnTo>
                <a:cubicBezTo>
                  <a:pt x="11570" y="58960"/>
                  <a:pt x="8321" y="56623"/>
                  <a:pt x="7381" y="53175"/>
                </a:cubicBezTo>
                <a:lnTo>
                  <a:pt x="5386" y="45709"/>
                </a:lnTo>
                <a:cubicBezTo>
                  <a:pt x="4474" y="42261"/>
                  <a:pt x="6098" y="38613"/>
                  <a:pt x="9318" y="37017"/>
                </a:cubicBezTo>
                <a:lnTo>
                  <a:pt x="20062" y="31717"/>
                </a:lnTo>
                <a:cubicBezTo>
                  <a:pt x="20261" y="30263"/>
                  <a:pt x="20546" y="28839"/>
                  <a:pt x="20917" y="27385"/>
                </a:cubicBezTo>
                <a:cubicBezTo>
                  <a:pt x="21315" y="25932"/>
                  <a:pt x="21771" y="24536"/>
                  <a:pt x="22341" y="23196"/>
                </a:cubicBezTo>
                <a:lnTo>
                  <a:pt x="15702" y="13251"/>
                </a:lnTo>
                <a:cubicBezTo>
                  <a:pt x="13707" y="10259"/>
                  <a:pt x="14106" y="6298"/>
                  <a:pt x="16642" y="3762"/>
                </a:cubicBezTo>
                <a:lnTo>
                  <a:pt x="22113" y="-1710"/>
                </a:lnTo>
                <a:cubicBezTo>
                  <a:pt x="24650" y="-4246"/>
                  <a:pt x="28611" y="-4645"/>
                  <a:pt x="31603" y="-2650"/>
                </a:cubicBezTo>
                <a:lnTo>
                  <a:pt x="41577" y="3990"/>
                </a:lnTo>
                <a:cubicBezTo>
                  <a:pt x="44284" y="2878"/>
                  <a:pt x="47162" y="2080"/>
                  <a:pt x="50097" y="1681"/>
                </a:cubicBezTo>
                <a:lnTo>
                  <a:pt x="55397" y="-9033"/>
                </a:lnTo>
                <a:cubicBezTo>
                  <a:pt x="56993" y="-12254"/>
                  <a:pt x="60612" y="-13878"/>
                  <a:pt x="64089" y="-12966"/>
                </a:cubicBezTo>
                <a:close/>
                <a:moveTo>
                  <a:pt x="54828" y="23937"/>
                </a:moveTo>
                <a:cubicBezTo>
                  <a:pt x="47907" y="23937"/>
                  <a:pt x="42289" y="29555"/>
                  <a:pt x="42289" y="36476"/>
                </a:cubicBezTo>
                <a:cubicBezTo>
                  <a:pt x="42289" y="43396"/>
                  <a:pt x="47907" y="49014"/>
                  <a:pt x="54828" y="49014"/>
                </a:cubicBezTo>
                <a:cubicBezTo>
                  <a:pt x="61748" y="49014"/>
                  <a:pt x="67366" y="43396"/>
                  <a:pt x="67366" y="36476"/>
                </a:cubicBezTo>
                <a:cubicBezTo>
                  <a:pt x="67366" y="29555"/>
                  <a:pt x="61748" y="23937"/>
                  <a:pt x="54828" y="23937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Text 6"/>
          <p:cNvSpPr/>
          <p:nvPr/>
        </p:nvSpPr>
        <p:spPr>
          <a:xfrm>
            <a:off x="1021319" y="1659644"/>
            <a:ext cx="2197660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Metrics 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7135" y="2079114"/>
            <a:ext cx="730425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Aggregated all 5 source tables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one analytical row per account with engineered features: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7135" y="2407396"/>
            <a:ext cx="2334444" cy="620087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20087" y="2516823"/>
            <a:ext cx="218854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months_as_customer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646" y="2735677"/>
            <a:ext cx="217942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Right-censored survival logic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92717" y="2407396"/>
            <a:ext cx="2334444" cy="620087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3065668" y="2516823"/>
            <a:ext cx="218854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ltv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70227" y="2735677"/>
            <a:ext cx="217942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MRR × months as customer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38298" y="2407396"/>
            <a:ext cx="2334444" cy="620087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5511249" y="2516823"/>
            <a:ext cx="218854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avg_mrr / avg_arr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5809" y="2735677"/>
            <a:ext cx="217942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metrics validated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4757" y="3355764"/>
            <a:ext cx="7596063" cy="1641406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4714" dist="36476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135" y="3538142"/>
            <a:ext cx="364757" cy="364757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444" y="3647569"/>
            <a:ext cx="164141" cy="145903"/>
          </a:xfrm>
          <a:custGeom>
            <a:avLst/>
            <a:gdLst/>
            <a:ahLst/>
            <a:cxnLst/>
            <a:rect l="l" t="t" r="r" b="b"/>
            <a:pathLst>
              <a:path w="164141" h="145903">
                <a:moveTo>
                  <a:pt x="102816" y="342"/>
                </a:moveTo>
                <a:cubicBezTo>
                  <a:pt x="97971" y="-1054"/>
                  <a:pt x="92928" y="1767"/>
                  <a:pt x="91531" y="6611"/>
                </a:cubicBezTo>
                <a:lnTo>
                  <a:pt x="55055" y="134276"/>
                </a:lnTo>
                <a:cubicBezTo>
                  <a:pt x="53659" y="139121"/>
                  <a:pt x="56480" y="144164"/>
                  <a:pt x="61325" y="145561"/>
                </a:cubicBezTo>
                <a:cubicBezTo>
                  <a:pt x="66169" y="146957"/>
                  <a:pt x="71213" y="144136"/>
                  <a:pt x="72609" y="139292"/>
                </a:cubicBezTo>
                <a:lnTo>
                  <a:pt x="109085" y="11627"/>
                </a:lnTo>
                <a:cubicBezTo>
                  <a:pt x="110481" y="6782"/>
                  <a:pt x="107660" y="1738"/>
                  <a:pt x="102816" y="342"/>
                </a:cubicBezTo>
                <a:close/>
                <a:moveTo>
                  <a:pt x="121225" y="39126"/>
                </a:moveTo>
                <a:cubicBezTo>
                  <a:pt x="117663" y="42688"/>
                  <a:pt x="117663" y="48473"/>
                  <a:pt x="121225" y="52035"/>
                </a:cubicBezTo>
                <a:lnTo>
                  <a:pt x="142141" y="72951"/>
                </a:lnTo>
                <a:lnTo>
                  <a:pt x="121225" y="93868"/>
                </a:lnTo>
                <a:cubicBezTo>
                  <a:pt x="117663" y="97430"/>
                  <a:pt x="117663" y="103215"/>
                  <a:pt x="121225" y="106777"/>
                </a:cubicBezTo>
                <a:cubicBezTo>
                  <a:pt x="124787" y="110339"/>
                  <a:pt x="130572" y="110339"/>
                  <a:pt x="134134" y="106777"/>
                </a:cubicBezTo>
                <a:lnTo>
                  <a:pt x="161490" y="79420"/>
                </a:lnTo>
                <a:cubicBezTo>
                  <a:pt x="165053" y="75858"/>
                  <a:pt x="165053" y="70073"/>
                  <a:pt x="161490" y="66511"/>
                </a:cubicBezTo>
                <a:lnTo>
                  <a:pt x="134134" y="39154"/>
                </a:lnTo>
                <a:cubicBezTo>
                  <a:pt x="130572" y="35592"/>
                  <a:pt x="124787" y="35592"/>
                  <a:pt x="121225" y="39154"/>
                </a:cubicBezTo>
                <a:close/>
                <a:moveTo>
                  <a:pt x="42944" y="39126"/>
                </a:moveTo>
                <a:cubicBezTo>
                  <a:pt x="39382" y="35564"/>
                  <a:pt x="33598" y="35564"/>
                  <a:pt x="30035" y="39126"/>
                </a:cubicBezTo>
                <a:lnTo>
                  <a:pt x="2679" y="66483"/>
                </a:lnTo>
                <a:cubicBezTo>
                  <a:pt x="-883" y="70045"/>
                  <a:pt x="-883" y="75830"/>
                  <a:pt x="2679" y="79392"/>
                </a:cubicBezTo>
                <a:lnTo>
                  <a:pt x="30035" y="106748"/>
                </a:lnTo>
                <a:cubicBezTo>
                  <a:pt x="33598" y="110310"/>
                  <a:pt x="39382" y="110310"/>
                  <a:pt x="42944" y="106748"/>
                </a:cubicBezTo>
                <a:cubicBezTo>
                  <a:pt x="46507" y="103186"/>
                  <a:pt x="46507" y="97401"/>
                  <a:pt x="42944" y="93839"/>
                </a:cubicBezTo>
                <a:lnTo>
                  <a:pt x="22028" y="72951"/>
                </a:lnTo>
                <a:lnTo>
                  <a:pt x="42916" y="52035"/>
                </a:lnTo>
                <a:cubicBezTo>
                  <a:pt x="46478" y="48473"/>
                  <a:pt x="46478" y="42688"/>
                  <a:pt x="42916" y="391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1319" y="3592856"/>
            <a:ext cx="2434752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SQL Analyses Performed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7135" y="4012326"/>
            <a:ext cx="16414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2131" y="4012326"/>
            <a:ext cx="229796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by Plan Tier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All tiers ~22%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33745" y="4012326"/>
            <a:ext cx="19149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25100" y="4012326"/>
            <a:ext cx="3264574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by Referral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Event 30.2% vs Partner 14.6%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7135" y="4304132"/>
            <a:ext cx="19149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9773" y="4304132"/>
            <a:ext cx="305483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Reasons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Features 19%, Support 17.3%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33745" y="4304132"/>
            <a:ext cx="19149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26240" y="4304132"/>
            <a:ext cx="282686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LTV by Channel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Partner $24,965 highest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7135" y="4595937"/>
            <a:ext cx="19149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7778" y="4595937"/>
            <a:ext cx="332840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Upgrade/Downgrade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20.5% churn post-upgrade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33745" y="4595937"/>
            <a:ext cx="19149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27522" y="4595937"/>
            <a:ext cx="2927174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Reactivation</a:t>
            </a:r>
            <a:pPr>
              <a:lnSpc>
                <a:spcPct val="130000"/>
              </a:lnSpc>
            </a:pPr>
            <a:r>
              <a:rPr lang="en-US" sz="114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71% active have churn history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2875" y="1422552"/>
            <a:ext cx="3720521" cy="5434878"/>
          </a:xfrm>
          <a:prstGeom prst="roundRect">
            <a:avLst>
              <a:gd name="adj" fmla="val 1961"/>
            </a:avLst>
          </a:prstGeom>
          <a:solidFill>
            <a:srgbClr val="1A2E35"/>
          </a:solidFill>
          <a:ln/>
          <a:effectLst>
            <a:outerShdw sx="100000" sy="100000" kx="0" ky="0" algn="bl" rotWithShape="0" blurRad="54714" dist="36476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85254" y="1604930"/>
            <a:ext cx="364757" cy="364757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37" name="Shape 35"/>
          <p:cNvSpPr/>
          <p:nvPr/>
        </p:nvSpPr>
        <p:spPr>
          <a:xfrm>
            <a:off x="8394681" y="1714358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8238" y="18238"/>
                </a:moveTo>
                <a:cubicBezTo>
                  <a:pt x="18238" y="13194"/>
                  <a:pt x="14163" y="9119"/>
                  <a:pt x="9119" y="9119"/>
                </a:cubicBezTo>
                <a:cubicBezTo>
                  <a:pt x="4075" y="9119"/>
                  <a:pt x="0" y="13194"/>
                  <a:pt x="0" y="18238"/>
                </a:cubicBezTo>
                <a:lnTo>
                  <a:pt x="0" y="113987"/>
                </a:lnTo>
                <a:cubicBezTo>
                  <a:pt x="0" y="126582"/>
                  <a:pt x="10202" y="136784"/>
                  <a:pt x="22797" y="136784"/>
                </a:cubicBezTo>
                <a:lnTo>
                  <a:pt x="136784" y="136784"/>
                </a:lnTo>
                <a:cubicBezTo>
                  <a:pt x="141828" y="136784"/>
                  <a:pt x="145903" y="132709"/>
                  <a:pt x="145903" y="127665"/>
                </a:cubicBezTo>
                <a:cubicBezTo>
                  <a:pt x="145903" y="122621"/>
                  <a:pt x="141828" y="118546"/>
                  <a:pt x="136784" y="118546"/>
                </a:cubicBezTo>
                <a:lnTo>
                  <a:pt x="22797" y="118546"/>
                </a:lnTo>
                <a:cubicBezTo>
                  <a:pt x="20290" y="118546"/>
                  <a:pt x="18238" y="116494"/>
                  <a:pt x="18238" y="113987"/>
                </a:cubicBezTo>
                <a:lnTo>
                  <a:pt x="18238" y="18238"/>
                </a:lnTo>
                <a:close/>
                <a:moveTo>
                  <a:pt x="134105" y="42916"/>
                </a:moveTo>
                <a:cubicBezTo>
                  <a:pt x="137667" y="39354"/>
                  <a:pt x="137667" y="33569"/>
                  <a:pt x="134105" y="30007"/>
                </a:cubicBezTo>
                <a:cubicBezTo>
                  <a:pt x="130543" y="26445"/>
                  <a:pt x="124758" y="26445"/>
                  <a:pt x="121196" y="30007"/>
                </a:cubicBezTo>
                <a:lnTo>
                  <a:pt x="91189" y="60042"/>
                </a:lnTo>
                <a:lnTo>
                  <a:pt x="74832" y="43714"/>
                </a:lnTo>
                <a:cubicBezTo>
                  <a:pt x="71270" y="40152"/>
                  <a:pt x="65485" y="40152"/>
                  <a:pt x="61923" y="43714"/>
                </a:cubicBezTo>
                <a:lnTo>
                  <a:pt x="34566" y="71071"/>
                </a:lnTo>
                <a:cubicBezTo>
                  <a:pt x="31004" y="74633"/>
                  <a:pt x="31004" y="80418"/>
                  <a:pt x="34566" y="83980"/>
                </a:cubicBezTo>
                <a:cubicBezTo>
                  <a:pt x="38128" y="87542"/>
                  <a:pt x="43913" y="87542"/>
                  <a:pt x="47475" y="83980"/>
                </a:cubicBezTo>
                <a:lnTo>
                  <a:pt x="68392" y="63063"/>
                </a:lnTo>
                <a:lnTo>
                  <a:pt x="84749" y="79420"/>
                </a:lnTo>
                <a:cubicBezTo>
                  <a:pt x="88311" y="82982"/>
                  <a:pt x="94096" y="82982"/>
                  <a:pt x="97658" y="79420"/>
                </a:cubicBezTo>
                <a:lnTo>
                  <a:pt x="134134" y="4294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759438" y="1659644"/>
            <a:ext cx="86629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KPIs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85254" y="2115590"/>
            <a:ext cx="3355764" cy="911892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285254" y="2225017"/>
            <a:ext cx="3355764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58205" y="2699201"/>
            <a:ext cx="320986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Customers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85254" y="3027482"/>
            <a:ext cx="3355764" cy="911892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285254" y="3136909"/>
            <a:ext cx="3355764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3.95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58205" y="3611093"/>
            <a:ext cx="320986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Satisfaction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85254" y="3939375"/>
            <a:ext cx="3355764" cy="911892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285254" y="4048802"/>
            <a:ext cx="3355764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58205" y="4522986"/>
            <a:ext cx="320986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Rate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85254" y="4851267"/>
            <a:ext cx="3355764" cy="911892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285254" y="4960694"/>
            <a:ext cx="3355764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58205" y="5434878"/>
            <a:ext cx="320986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Retention Rate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85254" y="5763159"/>
            <a:ext cx="3355764" cy="911892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285254" y="5872586"/>
            <a:ext cx="3355764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$2.30K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58205" y="6346770"/>
            <a:ext cx="320986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MRR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spc="58" kern="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7319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Executive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222906"/>
            <a:ext cx="889386" cy="37058"/>
          </a:xfrm>
          <a:prstGeom prst="roundRect">
            <a:avLst>
              <a:gd name="adj" fmla="val 0"/>
            </a:avLst>
          </a:prstGeom>
          <a:solidFill>
            <a:srgbClr val="C5A57A"/>
          </a:solidFill>
          <a:ln/>
        </p:spPr>
      </p:sp>
      <p:sp>
        <p:nvSpPr>
          <p:cNvPr id="5" name="Shape 3"/>
          <p:cNvSpPr/>
          <p:nvPr/>
        </p:nvSpPr>
        <p:spPr>
          <a:xfrm>
            <a:off x="370578" y="1408195"/>
            <a:ext cx="7633897" cy="5447489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5587" dist="37058" dir="540000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8809" y="1556426"/>
            <a:ext cx="167686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Preview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23457" y="1556426"/>
            <a:ext cx="833799" cy="259404"/>
          </a:xfrm>
          <a:prstGeom prst="roundRect">
            <a:avLst>
              <a:gd name="adj" fmla="val 14286"/>
            </a:avLst>
          </a:prstGeom>
          <a:solidFill>
            <a:srgbClr val="C5A57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023457" y="1556426"/>
            <a:ext cx="898650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8073" y="1936267"/>
            <a:ext cx="7318906" cy="4761921"/>
          </a:xfrm>
          <a:prstGeom prst="roundRect">
            <a:avLst>
              <a:gd name="adj" fmla="val 778"/>
            </a:avLst>
          </a:prstGeom>
          <a:solidFill>
            <a:srgbClr val="F8F9FA"/>
          </a:solidFill>
          <a:ln w="25400">
            <a:solidFill>
              <a:srgbClr val="5A6B75">
                <a:alpha val="30196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908145" y="3594602"/>
            <a:ext cx="555866" cy="555866"/>
          </a:xfrm>
          <a:custGeom>
            <a:avLst/>
            <a:gdLst/>
            <a:ahLst/>
            <a:cxnLst/>
            <a:rect l="l" t="t" r="r" b="b"/>
            <a:pathLst>
              <a:path w="555866" h="555866">
                <a:moveTo>
                  <a:pt x="34742" y="34742"/>
                </a:moveTo>
                <a:cubicBezTo>
                  <a:pt x="53958" y="34742"/>
                  <a:pt x="69483" y="50267"/>
                  <a:pt x="69483" y="69483"/>
                </a:cubicBezTo>
                <a:lnTo>
                  <a:pt x="69483" y="434271"/>
                </a:lnTo>
                <a:cubicBezTo>
                  <a:pt x="69483" y="443824"/>
                  <a:pt x="77300" y="451641"/>
                  <a:pt x="86854" y="451641"/>
                </a:cubicBezTo>
                <a:lnTo>
                  <a:pt x="521125" y="451641"/>
                </a:lnTo>
                <a:cubicBezTo>
                  <a:pt x="540341" y="451641"/>
                  <a:pt x="555866" y="467167"/>
                  <a:pt x="555866" y="486383"/>
                </a:cubicBezTo>
                <a:cubicBezTo>
                  <a:pt x="555866" y="505599"/>
                  <a:pt x="540341" y="521125"/>
                  <a:pt x="521125" y="521125"/>
                </a:cubicBezTo>
                <a:lnTo>
                  <a:pt x="86854" y="521125"/>
                </a:lnTo>
                <a:cubicBezTo>
                  <a:pt x="38867" y="521125"/>
                  <a:pt x="0" y="482257"/>
                  <a:pt x="0" y="434271"/>
                </a:cubicBezTo>
                <a:lnTo>
                  <a:pt x="0" y="69483"/>
                </a:lnTo>
                <a:cubicBezTo>
                  <a:pt x="0" y="50267"/>
                  <a:pt x="15525" y="34742"/>
                  <a:pt x="34742" y="34742"/>
                </a:cubicBezTo>
                <a:close/>
                <a:moveTo>
                  <a:pt x="138967" y="104225"/>
                </a:moveTo>
                <a:cubicBezTo>
                  <a:pt x="138967" y="85008"/>
                  <a:pt x="154492" y="69483"/>
                  <a:pt x="173708" y="69483"/>
                </a:cubicBezTo>
                <a:lnTo>
                  <a:pt x="382158" y="69483"/>
                </a:lnTo>
                <a:cubicBezTo>
                  <a:pt x="401375" y="69483"/>
                  <a:pt x="416900" y="85008"/>
                  <a:pt x="416900" y="104225"/>
                </a:cubicBezTo>
                <a:cubicBezTo>
                  <a:pt x="416900" y="123441"/>
                  <a:pt x="401375" y="138967"/>
                  <a:pt x="382158" y="138967"/>
                </a:cubicBezTo>
                <a:lnTo>
                  <a:pt x="173708" y="138967"/>
                </a:lnTo>
                <a:cubicBezTo>
                  <a:pt x="154492" y="138967"/>
                  <a:pt x="138967" y="123441"/>
                  <a:pt x="138967" y="104225"/>
                </a:cubicBezTo>
                <a:close/>
                <a:moveTo>
                  <a:pt x="173708" y="191079"/>
                </a:moveTo>
                <a:lnTo>
                  <a:pt x="312675" y="191079"/>
                </a:lnTo>
                <a:cubicBezTo>
                  <a:pt x="331891" y="191079"/>
                  <a:pt x="347416" y="206604"/>
                  <a:pt x="347416" y="225821"/>
                </a:cubicBezTo>
                <a:cubicBezTo>
                  <a:pt x="347416" y="245037"/>
                  <a:pt x="331891" y="260562"/>
                  <a:pt x="312675" y="260562"/>
                </a:cubicBezTo>
                <a:lnTo>
                  <a:pt x="173708" y="260562"/>
                </a:lnTo>
                <a:cubicBezTo>
                  <a:pt x="154492" y="260562"/>
                  <a:pt x="138967" y="245037"/>
                  <a:pt x="138967" y="225821"/>
                </a:cubicBezTo>
                <a:cubicBezTo>
                  <a:pt x="138967" y="206604"/>
                  <a:pt x="154492" y="191079"/>
                  <a:pt x="173708" y="191079"/>
                </a:cubicBezTo>
                <a:close/>
                <a:moveTo>
                  <a:pt x="173708" y="312675"/>
                </a:moveTo>
                <a:lnTo>
                  <a:pt x="451641" y="312675"/>
                </a:lnTo>
                <a:cubicBezTo>
                  <a:pt x="470858" y="312675"/>
                  <a:pt x="486383" y="328200"/>
                  <a:pt x="486383" y="347416"/>
                </a:cubicBezTo>
                <a:cubicBezTo>
                  <a:pt x="486383" y="366633"/>
                  <a:pt x="470858" y="382158"/>
                  <a:pt x="451641" y="382158"/>
                </a:cubicBezTo>
                <a:lnTo>
                  <a:pt x="173708" y="382158"/>
                </a:lnTo>
                <a:cubicBezTo>
                  <a:pt x="154492" y="382158"/>
                  <a:pt x="138967" y="366633"/>
                  <a:pt x="138967" y="347416"/>
                </a:cubicBezTo>
                <a:cubicBezTo>
                  <a:pt x="138967" y="328200"/>
                  <a:pt x="154492" y="312675"/>
                  <a:pt x="173708" y="312675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1" name="Text 9"/>
          <p:cNvSpPr/>
          <p:nvPr/>
        </p:nvSpPr>
        <p:spPr>
          <a:xfrm>
            <a:off x="643878" y="4261641"/>
            <a:ext cx="708729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Dashboard Screenshot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8511" y="4595161"/>
            <a:ext cx="7078030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5A6B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KPI strip, churn analysis, revenue overview, and customer success metrics in a single interactive 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49955" y="1408195"/>
            <a:ext cx="3668717" cy="2668158"/>
          </a:xfrm>
          <a:prstGeom prst="roundRect">
            <a:avLst>
              <a:gd name="adj" fmla="val 2778"/>
            </a:avLst>
          </a:prstGeom>
          <a:solidFill>
            <a:srgbClr val="1A2E35"/>
          </a:solidFill>
          <a:ln/>
          <a:effectLst>
            <a:outerShdw sx="100000" sy="100000" kx="0" ky="0" algn="bl" rotWithShape="0" blurRad="55587" dist="37058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16715" y="1612012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0" y="74116"/>
                </a:moveTo>
                <a:cubicBezTo>
                  <a:pt x="0" y="33210"/>
                  <a:pt x="33210" y="0"/>
                  <a:pt x="74116" y="0"/>
                </a:cubicBezTo>
                <a:cubicBezTo>
                  <a:pt x="115021" y="0"/>
                  <a:pt x="148231" y="33210"/>
                  <a:pt x="148231" y="74116"/>
                </a:cubicBezTo>
                <a:cubicBezTo>
                  <a:pt x="148231" y="115021"/>
                  <a:pt x="115021" y="148231"/>
                  <a:pt x="74116" y="148231"/>
                </a:cubicBezTo>
                <a:cubicBezTo>
                  <a:pt x="33210" y="148231"/>
                  <a:pt x="0" y="115021"/>
                  <a:pt x="0" y="74116"/>
                </a:cubicBezTo>
                <a:close/>
                <a:moveTo>
                  <a:pt x="83380" y="27793"/>
                </a:moveTo>
                <a:cubicBezTo>
                  <a:pt x="83380" y="22680"/>
                  <a:pt x="79229" y="18529"/>
                  <a:pt x="74116" y="18529"/>
                </a:cubicBezTo>
                <a:cubicBezTo>
                  <a:pt x="69002" y="18529"/>
                  <a:pt x="64851" y="22680"/>
                  <a:pt x="64851" y="27793"/>
                </a:cubicBezTo>
                <a:cubicBezTo>
                  <a:pt x="64851" y="32906"/>
                  <a:pt x="69002" y="37058"/>
                  <a:pt x="74116" y="37058"/>
                </a:cubicBezTo>
                <a:cubicBezTo>
                  <a:pt x="79229" y="37058"/>
                  <a:pt x="83380" y="32906"/>
                  <a:pt x="83380" y="27793"/>
                </a:cubicBezTo>
                <a:close/>
                <a:moveTo>
                  <a:pt x="74116" y="120438"/>
                </a:moveTo>
                <a:cubicBezTo>
                  <a:pt x="84335" y="120438"/>
                  <a:pt x="92644" y="112129"/>
                  <a:pt x="92644" y="101909"/>
                </a:cubicBezTo>
                <a:cubicBezTo>
                  <a:pt x="92644" y="97219"/>
                  <a:pt x="90907" y="92905"/>
                  <a:pt x="88012" y="89662"/>
                </a:cubicBezTo>
                <a:lnTo>
                  <a:pt x="108133" y="49449"/>
                </a:lnTo>
                <a:cubicBezTo>
                  <a:pt x="109841" y="46004"/>
                  <a:pt x="108452" y="41835"/>
                  <a:pt x="105036" y="40127"/>
                </a:cubicBezTo>
                <a:cubicBezTo>
                  <a:pt x="101619" y="38418"/>
                  <a:pt x="97421" y="39808"/>
                  <a:pt x="95713" y="43224"/>
                </a:cubicBezTo>
                <a:lnTo>
                  <a:pt x="75592" y="83438"/>
                </a:lnTo>
                <a:cubicBezTo>
                  <a:pt x="75100" y="83409"/>
                  <a:pt x="74608" y="83380"/>
                  <a:pt x="74116" y="83380"/>
                </a:cubicBezTo>
                <a:cubicBezTo>
                  <a:pt x="63896" y="83380"/>
                  <a:pt x="55587" y="91689"/>
                  <a:pt x="55587" y="101909"/>
                </a:cubicBezTo>
                <a:cubicBezTo>
                  <a:pt x="55587" y="112129"/>
                  <a:pt x="63896" y="120438"/>
                  <a:pt x="74116" y="120438"/>
                </a:cubicBezTo>
                <a:close/>
                <a:moveTo>
                  <a:pt x="50954" y="41690"/>
                </a:moveTo>
                <a:cubicBezTo>
                  <a:pt x="50954" y="36577"/>
                  <a:pt x="46803" y="32426"/>
                  <a:pt x="41690" y="32426"/>
                </a:cubicBezTo>
                <a:cubicBezTo>
                  <a:pt x="36577" y="32426"/>
                  <a:pt x="32426" y="36577"/>
                  <a:pt x="32426" y="41690"/>
                </a:cubicBezTo>
                <a:cubicBezTo>
                  <a:pt x="32426" y="46803"/>
                  <a:pt x="36577" y="50954"/>
                  <a:pt x="41690" y="50954"/>
                </a:cubicBezTo>
                <a:cubicBezTo>
                  <a:pt x="46803" y="50954"/>
                  <a:pt x="50954" y="46803"/>
                  <a:pt x="50954" y="41690"/>
                </a:cubicBezTo>
                <a:close/>
                <a:moveTo>
                  <a:pt x="27793" y="83380"/>
                </a:moveTo>
                <a:cubicBezTo>
                  <a:pt x="32906" y="83380"/>
                  <a:pt x="37058" y="79229"/>
                  <a:pt x="37058" y="74116"/>
                </a:cubicBezTo>
                <a:cubicBezTo>
                  <a:pt x="37058" y="69002"/>
                  <a:pt x="32906" y="64851"/>
                  <a:pt x="27793" y="64851"/>
                </a:cubicBezTo>
                <a:cubicBezTo>
                  <a:pt x="22680" y="64851"/>
                  <a:pt x="18529" y="69002"/>
                  <a:pt x="18529" y="74116"/>
                </a:cubicBezTo>
                <a:cubicBezTo>
                  <a:pt x="18529" y="79229"/>
                  <a:pt x="22680" y="83380"/>
                  <a:pt x="27793" y="83380"/>
                </a:cubicBezTo>
                <a:close/>
                <a:moveTo>
                  <a:pt x="129702" y="74116"/>
                </a:moveTo>
                <a:cubicBezTo>
                  <a:pt x="129702" y="69002"/>
                  <a:pt x="125551" y="64851"/>
                  <a:pt x="120438" y="64851"/>
                </a:cubicBezTo>
                <a:cubicBezTo>
                  <a:pt x="115325" y="64851"/>
                  <a:pt x="111173" y="69002"/>
                  <a:pt x="111173" y="74116"/>
                </a:cubicBezTo>
                <a:cubicBezTo>
                  <a:pt x="111173" y="79229"/>
                  <a:pt x="115325" y="83380"/>
                  <a:pt x="120438" y="83380"/>
                </a:cubicBezTo>
                <a:cubicBezTo>
                  <a:pt x="125551" y="83380"/>
                  <a:pt x="129702" y="79229"/>
                  <a:pt x="129702" y="7411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5" name="Text 13"/>
          <p:cNvSpPr/>
          <p:nvPr/>
        </p:nvSpPr>
        <p:spPr>
          <a:xfrm>
            <a:off x="8557590" y="1556426"/>
            <a:ext cx="155642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Sections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98186" y="1927003"/>
            <a:ext cx="23161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26178" y="1927003"/>
            <a:ext cx="3214760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KPI Strip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Top-level metrics at a glance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8186" y="2445812"/>
            <a:ext cx="25940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53103" y="2445812"/>
            <a:ext cx="318696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&amp; Revenue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Plan mix, MRR by industry, referrals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98186" y="2964620"/>
            <a:ext cx="25940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54405" y="2964620"/>
            <a:ext cx="318696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Analysis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Rates by source, reasons, plan tier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98186" y="3483429"/>
            <a:ext cx="25940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54261" y="3483429"/>
            <a:ext cx="318696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Success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Resolution time vs. satisfaction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49955" y="4187526"/>
            <a:ext cx="3668717" cy="266815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5587" dist="37058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5244" y="4391343"/>
            <a:ext cx="111173" cy="148231"/>
          </a:xfrm>
          <a:custGeom>
            <a:avLst/>
            <a:gdLst/>
            <a:ahLst/>
            <a:cxnLst/>
            <a:rect l="l" t="t" r="r" b="b"/>
            <a:pathLst>
              <a:path w="111173" h="148231">
                <a:moveTo>
                  <a:pt x="84799" y="111173"/>
                </a:moveTo>
                <a:cubicBezTo>
                  <a:pt x="86912" y="104717"/>
                  <a:pt x="91139" y="98869"/>
                  <a:pt x="95916" y="93831"/>
                </a:cubicBezTo>
                <a:cubicBezTo>
                  <a:pt x="105383" y="83872"/>
                  <a:pt x="111173" y="70410"/>
                  <a:pt x="111173" y="55587"/>
                </a:cubicBezTo>
                <a:cubicBezTo>
                  <a:pt x="111173" y="24898"/>
                  <a:pt x="86275" y="0"/>
                  <a:pt x="55587" y="0"/>
                </a:cubicBezTo>
                <a:cubicBezTo>
                  <a:pt x="24898" y="0"/>
                  <a:pt x="0" y="24898"/>
                  <a:pt x="0" y="55587"/>
                </a:cubicBezTo>
                <a:cubicBezTo>
                  <a:pt x="0" y="70410"/>
                  <a:pt x="5790" y="83872"/>
                  <a:pt x="15257" y="93831"/>
                </a:cubicBezTo>
                <a:cubicBezTo>
                  <a:pt x="20034" y="98869"/>
                  <a:pt x="24290" y="104717"/>
                  <a:pt x="26375" y="111173"/>
                </a:cubicBezTo>
                <a:lnTo>
                  <a:pt x="84770" y="111173"/>
                </a:lnTo>
                <a:close/>
                <a:moveTo>
                  <a:pt x="83380" y="125070"/>
                </a:moveTo>
                <a:lnTo>
                  <a:pt x="27793" y="125070"/>
                </a:lnTo>
                <a:lnTo>
                  <a:pt x="27793" y="129702"/>
                </a:lnTo>
                <a:cubicBezTo>
                  <a:pt x="27793" y="142499"/>
                  <a:pt x="38158" y="152863"/>
                  <a:pt x="50954" y="152863"/>
                </a:cubicBezTo>
                <a:lnTo>
                  <a:pt x="60219" y="152863"/>
                </a:lnTo>
                <a:cubicBezTo>
                  <a:pt x="73015" y="152863"/>
                  <a:pt x="83380" y="142499"/>
                  <a:pt x="83380" y="129702"/>
                </a:cubicBezTo>
                <a:lnTo>
                  <a:pt x="83380" y="125070"/>
                </a:lnTo>
                <a:close/>
                <a:moveTo>
                  <a:pt x="53271" y="32426"/>
                </a:moveTo>
                <a:cubicBezTo>
                  <a:pt x="41748" y="32426"/>
                  <a:pt x="32426" y="41748"/>
                  <a:pt x="32426" y="53271"/>
                </a:cubicBezTo>
                <a:cubicBezTo>
                  <a:pt x="32426" y="57121"/>
                  <a:pt x="29328" y="60219"/>
                  <a:pt x="25477" y="60219"/>
                </a:cubicBezTo>
                <a:cubicBezTo>
                  <a:pt x="21627" y="60219"/>
                  <a:pt x="18529" y="57121"/>
                  <a:pt x="18529" y="53271"/>
                </a:cubicBezTo>
                <a:cubicBezTo>
                  <a:pt x="18529" y="34076"/>
                  <a:pt x="34076" y="18529"/>
                  <a:pt x="53271" y="18529"/>
                </a:cubicBezTo>
                <a:cubicBezTo>
                  <a:pt x="57121" y="18529"/>
                  <a:pt x="60219" y="21627"/>
                  <a:pt x="60219" y="25477"/>
                </a:cubicBezTo>
                <a:cubicBezTo>
                  <a:pt x="60219" y="29328"/>
                  <a:pt x="57121" y="32426"/>
                  <a:pt x="53271" y="3242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6" name="Text 24"/>
          <p:cNvSpPr/>
          <p:nvPr/>
        </p:nvSpPr>
        <p:spPr>
          <a:xfrm>
            <a:off x="8557590" y="4335757"/>
            <a:ext cx="128775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Answers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21347" y="4743392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25881" y="20295"/>
                </a:moveTo>
                <a:cubicBezTo>
                  <a:pt x="130021" y="23306"/>
                  <a:pt x="130947" y="29096"/>
                  <a:pt x="127936" y="33236"/>
                </a:cubicBezTo>
                <a:lnTo>
                  <a:pt x="53821" y="135145"/>
                </a:lnTo>
                <a:cubicBezTo>
                  <a:pt x="52228" y="137345"/>
                  <a:pt x="49767" y="138706"/>
                  <a:pt x="47046" y="138938"/>
                </a:cubicBezTo>
                <a:cubicBezTo>
                  <a:pt x="44325" y="139169"/>
                  <a:pt x="41690" y="138156"/>
                  <a:pt x="39779" y="136245"/>
                </a:cubicBezTo>
                <a:lnTo>
                  <a:pt x="2721" y="99187"/>
                </a:lnTo>
                <a:cubicBezTo>
                  <a:pt x="-897" y="95568"/>
                  <a:pt x="-897" y="89691"/>
                  <a:pt x="2721" y="86072"/>
                </a:cubicBezTo>
                <a:cubicBezTo>
                  <a:pt x="6340" y="82453"/>
                  <a:pt x="12217" y="82453"/>
                  <a:pt x="15836" y="86072"/>
                </a:cubicBezTo>
                <a:lnTo>
                  <a:pt x="45222" y="115458"/>
                </a:lnTo>
                <a:lnTo>
                  <a:pt x="112968" y="22322"/>
                </a:lnTo>
                <a:cubicBezTo>
                  <a:pt x="115979" y="18181"/>
                  <a:pt x="121769" y="17255"/>
                  <a:pt x="125909" y="2026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8" name="Text 26"/>
          <p:cNvSpPr/>
          <p:nvPr/>
        </p:nvSpPr>
        <p:spPr>
          <a:xfrm>
            <a:off x="8547457" y="4706334"/>
            <a:ext cx="319623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Which acquisition channels retain customers best?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25979" y="5262201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25881" y="20295"/>
                </a:moveTo>
                <a:cubicBezTo>
                  <a:pt x="130021" y="23306"/>
                  <a:pt x="130947" y="29096"/>
                  <a:pt x="127936" y="33236"/>
                </a:cubicBezTo>
                <a:lnTo>
                  <a:pt x="53821" y="135145"/>
                </a:lnTo>
                <a:cubicBezTo>
                  <a:pt x="52228" y="137345"/>
                  <a:pt x="49767" y="138706"/>
                  <a:pt x="47046" y="138938"/>
                </a:cubicBezTo>
                <a:cubicBezTo>
                  <a:pt x="44325" y="139169"/>
                  <a:pt x="41690" y="138156"/>
                  <a:pt x="39779" y="136245"/>
                </a:cubicBezTo>
                <a:lnTo>
                  <a:pt x="2721" y="99187"/>
                </a:lnTo>
                <a:cubicBezTo>
                  <a:pt x="-897" y="95568"/>
                  <a:pt x="-897" y="89691"/>
                  <a:pt x="2721" y="86072"/>
                </a:cubicBezTo>
                <a:cubicBezTo>
                  <a:pt x="6340" y="82453"/>
                  <a:pt x="12217" y="82453"/>
                  <a:pt x="15836" y="86072"/>
                </a:cubicBezTo>
                <a:lnTo>
                  <a:pt x="45222" y="115458"/>
                </a:lnTo>
                <a:lnTo>
                  <a:pt x="112968" y="22322"/>
                </a:lnTo>
                <a:cubicBezTo>
                  <a:pt x="115979" y="18181"/>
                  <a:pt x="121769" y="17255"/>
                  <a:pt x="125909" y="2026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0" name="Text 28"/>
          <p:cNvSpPr/>
          <p:nvPr/>
        </p:nvSpPr>
        <p:spPr>
          <a:xfrm>
            <a:off x="8556287" y="5225143"/>
            <a:ext cx="318696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the primary drivers of customer churn?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21347" y="5781009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25881" y="20295"/>
                </a:moveTo>
                <a:cubicBezTo>
                  <a:pt x="130021" y="23306"/>
                  <a:pt x="130947" y="29096"/>
                  <a:pt x="127936" y="33236"/>
                </a:cubicBezTo>
                <a:lnTo>
                  <a:pt x="53821" y="135145"/>
                </a:lnTo>
                <a:cubicBezTo>
                  <a:pt x="52228" y="137345"/>
                  <a:pt x="49767" y="138706"/>
                  <a:pt x="47046" y="138938"/>
                </a:cubicBezTo>
                <a:cubicBezTo>
                  <a:pt x="44325" y="139169"/>
                  <a:pt x="41690" y="138156"/>
                  <a:pt x="39779" y="136245"/>
                </a:cubicBezTo>
                <a:lnTo>
                  <a:pt x="2721" y="99187"/>
                </a:lnTo>
                <a:cubicBezTo>
                  <a:pt x="-897" y="95568"/>
                  <a:pt x="-897" y="89691"/>
                  <a:pt x="2721" y="86072"/>
                </a:cubicBezTo>
                <a:cubicBezTo>
                  <a:pt x="6340" y="82453"/>
                  <a:pt x="12217" y="82453"/>
                  <a:pt x="15836" y="86072"/>
                </a:cubicBezTo>
                <a:lnTo>
                  <a:pt x="45222" y="115458"/>
                </a:lnTo>
                <a:lnTo>
                  <a:pt x="112968" y="22322"/>
                </a:lnTo>
                <a:cubicBezTo>
                  <a:pt x="115979" y="18181"/>
                  <a:pt x="121769" y="17255"/>
                  <a:pt x="125909" y="2026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2" name="Text 30"/>
          <p:cNvSpPr/>
          <p:nvPr/>
        </p:nvSpPr>
        <p:spPr>
          <a:xfrm>
            <a:off x="8550207" y="5743951"/>
            <a:ext cx="319623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is revenue concentrated across segments?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21347" y="6299818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25881" y="20295"/>
                </a:moveTo>
                <a:cubicBezTo>
                  <a:pt x="130021" y="23306"/>
                  <a:pt x="130947" y="29096"/>
                  <a:pt x="127936" y="33236"/>
                </a:cubicBezTo>
                <a:lnTo>
                  <a:pt x="53821" y="135145"/>
                </a:lnTo>
                <a:cubicBezTo>
                  <a:pt x="52228" y="137345"/>
                  <a:pt x="49767" y="138706"/>
                  <a:pt x="47046" y="138938"/>
                </a:cubicBezTo>
                <a:cubicBezTo>
                  <a:pt x="44325" y="139169"/>
                  <a:pt x="41690" y="138156"/>
                  <a:pt x="39779" y="136245"/>
                </a:cubicBezTo>
                <a:lnTo>
                  <a:pt x="2721" y="99187"/>
                </a:lnTo>
                <a:cubicBezTo>
                  <a:pt x="-897" y="95568"/>
                  <a:pt x="-897" y="89691"/>
                  <a:pt x="2721" y="86072"/>
                </a:cubicBezTo>
                <a:cubicBezTo>
                  <a:pt x="6340" y="82453"/>
                  <a:pt x="12217" y="82453"/>
                  <a:pt x="15836" y="86072"/>
                </a:cubicBezTo>
                <a:lnTo>
                  <a:pt x="45222" y="115458"/>
                </a:lnTo>
                <a:lnTo>
                  <a:pt x="112968" y="22322"/>
                </a:lnTo>
                <a:cubicBezTo>
                  <a:pt x="115979" y="18181"/>
                  <a:pt x="121769" y="17255"/>
                  <a:pt x="125909" y="2026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4" name="Text 32"/>
          <p:cNvSpPr/>
          <p:nvPr/>
        </p:nvSpPr>
        <p:spPr>
          <a:xfrm>
            <a:off x="8548615" y="6262760"/>
            <a:ext cx="319623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does support quality correlate with retention?</a:t>
            </a:r>
            <a:endParaRPr lang="en-US" sz="1600" dirty="0"/>
          </a:p>
        </p:txBody>
      </p:sp>
      <p:pic>
        <p:nvPicPr>
          <p:cNvPr id="35" name="Image 0" descr="https://kimi-img.moonshot.cn/pub/slides/26-06-19-15:44:21-d8qf6lbfj2j6p65re7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02" y="1811198"/>
            <a:ext cx="7338448" cy="48869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857" y="362857"/>
            <a:ext cx="11538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spc="57" kern="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 &amp; RECOMMENDATIONS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857" y="653143"/>
            <a:ext cx="11684000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29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Insights &amp; Actions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857" y="1197429"/>
            <a:ext cx="870857" cy="36286"/>
          </a:xfrm>
          <a:prstGeom prst="roundRect">
            <a:avLst>
              <a:gd name="adj" fmla="val 0"/>
            </a:avLst>
          </a:prstGeom>
          <a:solidFill>
            <a:srgbClr val="C5A57A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78857"/>
            <a:ext cx="5642429" cy="1560286"/>
          </a:xfrm>
          <a:custGeom>
            <a:avLst/>
            <a:gdLst/>
            <a:ahLst/>
            <a:cxnLst/>
            <a:rect l="l" t="t" r="r" b="b"/>
            <a:pathLst>
              <a:path w="5642429" h="1560286">
                <a:moveTo>
                  <a:pt x="36322" y="0"/>
                </a:moveTo>
                <a:lnTo>
                  <a:pt x="5569839" y="0"/>
                </a:lnTo>
                <a:cubicBezTo>
                  <a:pt x="5589094" y="-34"/>
                  <a:pt x="5607571" y="7592"/>
                  <a:pt x="5621198" y="21195"/>
                </a:cubicBezTo>
                <a:cubicBezTo>
                  <a:pt x="5634825" y="34798"/>
                  <a:pt x="5642483" y="53262"/>
                  <a:pt x="5642483" y="72517"/>
                </a:cubicBezTo>
                <a:lnTo>
                  <a:pt x="5642483" y="1487678"/>
                </a:lnTo>
                <a:cubicBezTo>
                  <a:pt x="5642517" y="1506955"/>
                  <a:pt x="5634874" y="1525452"/>
                  <a:pt x="5621243" y="1539082"/>
                </a:cubicBezTo>
                <a:cubicBezTo>
                  <a:pt x="5607613" y="1552713"/>
                  <a:pt x="5589116" y="1560356"/>
                  <a:pt x="5569839" y="1560322"/>
                </a:cubicBezTo>
                <a:lnTo>
                  <a:pt x="36322" y="1560322"/>
                </a:lnTo>
                <a:cubicBezTo>
                  <a:pt x="16275" y="1560322"/>
                  <a:pt x="0" y="1544047"/>
                  <a:pt x="0" y="1524000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429" dist="36286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78857"/>
            <a:ext cx="36286" cy="1560286"/>
          </a:xfrm>
          <a:custGeom>
            <a:avLst/>
            <a:gdLst/>
            <a:ahLst/>
            <a:cxnLst/>
            <a:rect l="l" t="t" r="r" b="b"/>
            <a:pathLst>
              <a:path w="36286" h="1560286">
                <a:moveTo>
                  <a:pt x="36322" y="0"/>
                </a:moveTo>
                <a:lnTo>
                  <a:pt x="36322" y="0"/>
                </a:lnTo>
                <a:lnTo>
                  <a:pt x="36322" y="1560322"/>
                </a:lnTo>
                <a:lnTo>
                  <a:pt x="36322" y="1560322"/>
                </a:lnTo>
                <a:cubicBezTo>
                  <a:pt x="16275" y="1560322"/>
                  <a:pt x="0" y="1544047"/>
                  <a:pt x="0" y="1524000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7" name="Shape 5"/>
          <p:cNvSpPr/>
          <p:nvPr/>
        </p:nvSpPr>
        <p:spPr>
          <a:xfrm>
            <a:off x="544286" y="1524000"/>
            <a:ext cx="362857" cy="362857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8" name="Shape 6"/>
          <p:cNvSpPr/>
          <p:nvPr/>
        </p:nvSpPr>
        <p:spPr>
          <a:xfrm>
            <a:off x="644071" y="1632857"/>
            <a:ext cx="163286" cy="145143"/>
          </a:xfrm>
          <a:custGeom>
            <a:avLst/>
            <a:gdLst/>
            <a:ahLst/>
            <a:cxnLst/>
            <a:rect l="l" t="t" r="r" b="b"/>
            <a:pathLst>
              <a:path w="163286" h="145143">
                <a:moveTo>
                  <a:pt x="87738" y="-5358"/>
                </a:moveTo>
                <a:cubicBezTo>
                  <a:pt x="86575" y="-7626"/>
                  <a:pt x="84223" y="-9071"/>
                  <a:pt x="81671" y="-9071"/>
                </a:cubicBezTo>
                <a:cubicBezTo>
                  <a:pt x="79120" y="-9071"/>
                  <a:pt x="76767" y="-7626"/>
                  <a:pt x="75605" y="-5358"/>
                </a:cubicBezTo>
                <a:lnTo>
                  <a:pt x="54740" y="35520"/>
                </a:lnTo>
                <a:lnTo>
                  <a:pt x="9412" y="42721"/>
                </a:lnTo>
                <a:cubicBezTo>
                  <a:pt x="6889" y="43118"/>
                  <a:pt x="4791" y="44904"/>
                  <a:pt x="3997" y="47342"/>
                </a:cubicBezTo>
                <a:cubicBezTo>
                  <a:pt x="3203" y="49779"/>
                  <a:pt x="3855" y="52444"/>
                  <a:pt x="5641" y="54258"/>
                </a:cubicBezTo>
                <a:lnTo>
                  <a:pt x="38072" y="86717"/>
                </a:lnTo>
                <a:lnTo>
                  <a:pt x="30928" y="132046"/>
                </a:lnTo>
                <a:cubicBezTo>
                  <a:pt x="30531" y="134569"/>
                  <a:pt x="31580" y="137120"/>
                  <a:pt x="33649" y="138623"/>
                </a:cubicBezTo>
                <a:cubicBezTo>
                  <a:pt x="35719" y="140125"/>
                  <a:pt x="38440" y="140352"/>
                  <a:pt x="40736" y="139190"/>
                </a:cubicBezTo>
                <a:lnTo>
                  <a:pt x="81671" y="118382"/>
                </a:lnTo>
                <a:lnTo>
                  <a:pt x="122578" y="139190"/>
                </a:lnTo>
                <a:cubicBezTo>
                  <a:pt x="124846" y="140352"/>
                  <a:pt x="127595" y="140125"/>
                  <a:pt x="129665" y="138623"/>
                </a:cubicBezTo>
                <a:cubicBezTo>
                  <a:pt x="131734" y="137120"/>
                  <a:pt x="132783" y="134597"/>
                  <a:pt x="132386" y="132046"/>
                </a:cubicBezTo>
                <a:lnTo>
                  <a:pt x="125214" y="86717"/>
                </a:lnTo>
                <a:lnTo>
                  <a:pt x="157644" y="54258"/>
                </a:lnTo>
                <a:cubicBezTo>
                  <a:pt x="159459" y="52444"/>
                  <a:pt x="160082" y="49779"/>
                  <a:pt x="159289" y="47342"/>
                </a:cubicBezTo>
                <a:cubicBezTo>
                  <a:pt x="158495" y="44904"/>
                  <a:pt x="156425" y="43118"/>
                  <a:pt x="153874" y="42721"/>
                </a:cubicBezTo>
                <a:lnTo>
                  <a:pt x="108574" y="35520"/>
                </a:lnTo>
                <a:lnTo>
                  <a:pt x="87738" y="-53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578429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Insights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4286" y="1995714"/>
            <a:ext cx="117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513" y="1995714"/>
            <a:ext cx="3038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is acquisition-driven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product-driven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286" y="2286000"/>
            <a:ext cx="117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513" y="2286000"/>
            <a:ext cx="32657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tier has minimal impact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churn (~22% each)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286" y="2576286"/>
            <a:ext cx="117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0513" y="2576286"/>
            <a:ext cx="3429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Post-upgrade churn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signals buyer's remorse (20.5%)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048000"/>
            <a:ext cx="5642429" cy="1560286"/>
          </a:xfrm>
          <a:custGeom>
            <a:avLst/>
            <a:gdLst/>
            <a:ahLst/>
            <a:cxnLst/>
            <a:rect l="l" t="t" r="r" b="b"/>
            <a:pathLst>
              <a:path w="5642429" h="1560286">
                <a:moveTo>
                  <a:pt x="36322" y="0"/>
                </a:moveTo>
                <a:lnTo>
                  <a:pt x="5569839" y="0"/>
                </a:lnTo>
                <a:cubicBezTo>
                  <a:pt x="5589094" y="-34"/>
                  <a:pt x="5607571" y="7592"/>
                  <a:pt x="5621198" y="21195"/>
                </a:cubicBezTo>
                <a:cubicBezTo>
                  <a:pt x="5634825" y="34798"/>
                  <a:pt x="5642483" y="53262"/>
                  <a:pt x="5642483" y="72517"/>
                </a:cubicBezTo>
                <a:lnTo>
                  <a:pt x="5642483" y="1487678"/>
                </a:lnTo>
                <a:cubicBezTo>
                  <a:pt x="5642517" y="1506955"/>
                  <a:pt x="5634874" y="1525452"/>
                  <a:pt x="5621243" y="1539082"/>
                </a:cubicBezTo>
                <a:cubicBezTo>
                  <a:pt x="5607613" y="1552713"/>
                  <a:pt x="5589116" y="1560356"/>
                  <a:pt x="5569839" y="1560322"/>
                </a:cubicBezTo>
                <a:lnTo>
                  <a:pt x="36322" y="1560322"/>
                </a:lnTo>
                <a:cubicBezTo>
                  <a:pt x="16275" y="1560322"/>
                  <a:pt x="0" y="1544047"/>
                  <a:pt x="0" y="1524000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429" dist="36286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1000" y="3048000"/>
            <a:ext cx="36286" cy="1560286"/>
          </a:xfrm>
          <a:custGeom>
            <a:avLst/>
            <a:gdLst/>
            <a:ahLst/>
            <a:cxnLst/>
            <a:rect l="l" t="t" r="r" b="b"/>
            <a:pathLst>
              <a:path w="36286" h="1560286">
                <a:moveTo>
                  <a:pt x="36322" y="0"/>
                </a:moveTo>
                <a:lnTo>
                  <a:pt x="36322" y="0"/>
                </a:lnTo>
                <a:lnTo>
                  <a:pt x="36322" y="1560322"/>
                </a:lnTo>
                <a:lnTo>
                  <a:pt x="36322" y="1560322"/>
                </a:lnTo>
                <a:cubicBezTo>
                  <a:pt x="16275" y="1560322"/>
                  <a:pt x="0" y="1544047"/>
                  <a:pt x="0" y="1524000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4286" y="3193143"/>
            <a:ext cx="362857" cy="362857"/>
          </a:xfrm>
          <a:prstGeom prst="roundRect">
            <a:avLst>
              <a:gd name="adj" fmla="val 50000"/>
            </a:avLst>
          </a:prstGeom>
          <a:solidFill>
            <a:srgbClr val="FB2C36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000" y="3302000"/>
            <a:ext cx="181429" cy="145143"/>
          </a:xfrm>
          <a:custGeom>
            <a:avLst/>
            <a:gdLst/>
            <a:ahLst/>
            <a:cxnLst/>
            <a:rect l="l" t="t" r="r" b="b"/>
            <a:pathLst>
              <a:path w="181429" h="145143">
                <a:moveTo>
                  <a:pt x="38554" y="36286"/>
                </a:moveTo>
                <a:cubicBezTo>
                  <a:pt x="38554" y="17511"/>
                  <a:pt x="53796" y="2268"/>
                  <a:pt x="72571" y="2268"/>
                </a:cubicBezTo>
                <a:cubicBezTo>
                  <a:pt x="91346" y="2268"/>
                  <a:pt x="106589" y="17511"/>
                  <a:pt x="106589" y="36286"/>
                </a:cubicBezTo>
                <a:cubicBezTo>
                  <a:pt x="106589" y="55061"/>
                  <a:pt x="91346" y="70304"/>
                  <a:pt x="72571" y="70304"/>
                </a:cubicBezTo>
                <a:cubicBezTo>
                  <a:pt x="53796" y="70304"/>
                  <a:pt x="38554" y="55061"/>
                  <a:pt x="38554" y="36286"/>
                </a:cubicBezTo>
                <a:close/>
                <a:moveTo>
                  <a:pt x="13607" y="136723"/>
                </a:moveTo>
                <a:cubicBezTo>
                  <a:pt x="13607" y="108800"/>
                  <a:pt x="36229" y="86179"/>
                  <a:pt x="64152" y="86179"/>
                </a:cubicBezTo>
                <a:lnTo>
                  <a:pt x="80991" y="86179"/>
                </a:lnTo>
                <a:cubicBezTo>
                  <a:pt x="108914" y="86179"/>
                  <a:pt x="131536" y="108800"/>
                  <a:pt x="131536" y="136723"/>
                </a:cubicBezTo>
                <a:cubicBezTo>
                  <a:pt x="131536" y="141373"/>
                  <a:pt x="127765" y="145143"/>
                  <a:pt x="123116" y="145143"/>
                </a:cubicBezTo>
                <a:lnTo>
                  <a:pt x="22027" y="145143"/>
                </a:lnTo>
                <a:cubicBezTo>
                  <a:pt x="17377" y="145143"/>
                  <a:pt x="13607" y="141373"/>
                  <a:pt x="13607" y="136723"/>
                </a:cubicBezTo>
                <a:close/>
                <a:moveTo>
                  <a:pt x="133804" y="47625"/>
                </a:moveTo>
                <a:lnTo>
                  <a:pt x="174625" y="47625"/>
                </a:lnTo>
                <a:cubicBezTo>
                  <a:pt x="178395" y="47625"/>
                  <a:pt x="181429" y="50658"/>
                  <a:pt x="181429" y="54429"/>
                </a:cubicBezTo>
                <a:cubicBezTo>
                  <a:pt x="181429" y="58199"/>
                  <a:pt x="178395" y="61232"/>
                  <a:pt x="174625" y="61232"/>
                </a:cubicBezTo>
                <a:lnTo>
                  <a:pt x="133804" y="61232"/>
                </a:lnTo>
                <a:cubicBezTo>
                  <a:pt x="130033" y="61232"/>
                  <a:pt x="127000" y="58199"/>
                  <a:pt x="127000" y="54429"/>
                </a:cubicBezTo>
                <a:cubicBezTo>
                  <a:pt x="127000" y="50658"/>
                  <a:pt x="130033" y="47625"/>
                  <a:pt x="133804" y="47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3247571"/>
            <a:ext cx="12972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Findings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286" y="3664857"/>
            <a:ext cx="117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513" y="3664857"/>
            <a:ext cx="29935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Event-sourced: </a:t>
            </a:r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30.2%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churn vs Partner: </a:t>
            </a:r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14.6%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286" y="3955143"/>
            <a:ext cx="117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0513" y="3955143"/>
            <a:ext cx="3664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reasons: Features </a:t>
            </a:r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19%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Support </a:t>
            </a:r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17.3%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Budget </a:t>
            </a:r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17.3%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286" y="4245429"/>
            <a:ext cx="117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0513" y="4245429"/>
            <a:ext cx="28575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32% of churned accounts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lack reason codes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4717143"/>
            <a:ext cx="5642429" cy="1270000"/>
          </a:xfrm>
          <a:custGeom>
            <a:avLst/>
            <a:gdLst/>
            <a:ahLst/>
            <a:cxnLst/>
            <a:rect l="l" t="t" r="r" b="b"/>
            <a:pathLst>
              <a:path w="5642429" h="1270000">
                <a:moveTo>
                  <a:pt x="36322" y="0"/>
                </a:moveTo>
                <a:lnTo>
                  <a:pt x="5569839" y="0"/>
                </a:lnTo>
                <a:cubicBezTo>
                  <a:pt x="5589094" y="-34"/>
                  <a:pt x="5607571" y="7592"/>
                  <a:pt x="5621198" y="21195"/>
                </a:cubicBezTo>
                <a:cubicBezTo>
                  <a:pt x="5634825" y="34798"/>
                  <a:pt x="5642483" y="53262"/>
                  <a:pt x="5642483" y="72517"/>
                </a:cubicBezTo>
                <a:lnTo>
                  <a:pt x="5642483" y="1197483"/>
                </a:lnTo>
                <a:cubicBezTo>
                  <a:pt x="5642483" y="1216738"/>
                  <a:pt x="5634825" y="1235202"/>
                  <a:pt x="5621198" y="1248805"/>
                </a:cubicBezTo>
                <a:cubicBezTo>
                  <a:pt x="5607571" y="1262408"/>
                  <a:pt x="5589094" y="1270034"/>
                  <a:pt x="5569839" y="1270000"/>
                </a:cubicBezTo>
                <a:lnTo>
                  <a:pt x="36322" y="1270000"/>
                </a:lnTo>
                <a:cubicBezTo>
                  <a:pt x="16275" y="1270000"/>
                  <a:pt x="0" y="1253725"/>
                  <a:pt x="0" y="1233678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429" dist="36286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1000" y="4717143"/>
            <a:ext cx="36286" cy="1270000"/>
          </a:xfrm>
          <a:custGeom>
            <a:avLst/>
            <a:gdLst/>
            <a:ahLst/>
            <a:cxnLst/>
            <a:rect l="l" t="t" r="r" b="b"/>
            <a:pathLst>
              <a:path w="36286" h="1270000">
                <a:moveTo>
                  <a:pt x="36322" y="0"/>
                </a:moveTo>
                <a:lnTo>
                  <a:pt x="36322" y="0"/>
                </a:lnTo>
                <a:lnTo>
                  <a:pt x="36322" y="1270000"/>
                </a:lnTo>
                <a:lnTo>
                  <a:pt x="36322" y="1270000"/>
                </a:lnTo>
                <a:cubicBezTo>
                  <a:pt x="16275" y="1270000"/>
                  <a:pt x="0" y="1253725"/>
                  <a:pt x="0" y="1233678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9" name="Shape 27"/>
          <p:cNvSpPr/>
          <p:nvPr/>
        </p:nvSpPr>
        <p:spPr>
          <a:xfrm>
            <a:off x="544286" y="4862286"/>
            <a:ext cx="362857" cy="362857"/>
          </a:xfrm>
          <a:prstGeom prst="roundRect">
            <a:avLst>
              <a:gd name="adj" fmla="val 50000"/>
            </a:avLst>
          </a:prstGeom>
          <a:solidFill>
            <a:srgbClr val="00C950"/>
          </a:solidFill>
          <a:ln/>
        </p:spPr>
      </p:sp>
      <p:sp>
        <p:nvSpPr>
          <p:cNvPr id="30" name="Shape 28"/>
          <p:cNvSpPr/>
          <p:nvPr/>
        </p:nvSpPr>
        <p:spPr>
          <a:xfrm>
            <a:off x="680357" y="4971143"/>
            <a:ext cx="90714" cy="145143"/>
          </a:xfrm>
          <a:custGeom>
            <a:avLst/>
            <a:gdLst/>
            <a:ahLst/>
            <a:cxnLst/>
            <a:rect l="l" t="t" r="r" b="b"/>
            <a:pathLst>
              <a:path w="90714" h="145143">
                <a:moveTo>
                  <a:pt x="38554" y="6804"/>
                </a:moveTo>
                <a:cubicBezTo>
                  <a:pt x="38554" y="3033"/>
                  <a:pt x="41587" y="0"/>
                  <a:pt x="45357" y="0"/>
                </a:cubicBezTo>
                <a:cubicBezTo>
                  <a:pt x="49127" y="0"/>
                  <a:pt x="52161" y="3033"/>
                  <a:pt x="52161" y="6804"/>
                </a:cubicBezTo>
                <a:lnTo>
                  <a:pt x="52161" y="18143"/>
                </a:lnTo>
                <a:lnTo>
                  <a:pt x="68036" y="18143"/>
                </a:lnTo>
                <a:cubicBezTo>
                  <a:pt x="73053" y="18143"/>
                  <a:pt x="77107" y="22197"/>
                  <a:pt x="77107" y="27214"/>
                </a:cubicBezTo>
                <a:cubicBezTo>
                  <a:pt x="77107" y="32232"/>
                  <a:pt x="73053" y="36286"/>
                  <a:pt x="68036" y="36286"/>
                </a:cubicBezTo>
                <a:lnTo>
                  <a:pt x="35464" y="36286"/>
                </a:lnTo>
                <a:cubicBezTo>
                  <a:pt x="28405" y="36286"/>
                  <a:pt x="22679" y="42012"/>
                  <a:pt x="22679" y="49071"/>
                </a:cubicBezTo>
                <a:cubicBezTo>
                  <a:pt x="22679" y="55449"/>
                  <a:pt x="27356" y="60835"/>
                  <a:pt x="33649" y="61742"/>
                </a:cubicBezTo>
                <a:lnTo>
                  <a:pt x="59616" y="65456"/>
                </a:lnTo>
                <a:cubicBezTo>
                  <a:pt x="74868" y="67639"/>
                  <a:pt x="86179" y="80679"/>
                  <a:pt x="86179" y="96072"/>
                </a:cubicBezTo>
                <a:cubicBezTo>
                  <a:pt x="86179" y="113166"/>
                  <a:pt x="72316" y="127000"/>
                  <a:pt x="55251" y="127000"/>
                </a:cubicBezTo>
                <a:lnTo>
                  <a:pt x="52161" y="127000"/>
                </a:lnTo>
                <a:lnTo>
                  <a:pt x="52161" y="138339"/>
                </a:lnTo>
                <a:cubicBezTo>
                  <a:pt x="52161" y="142110"/>
                  <a:pt x="49127" y="145143"/>
                  <a:pt x="45357" y="145143"/>
                </a:cubicBezTo>
                <a:cubicBezTo>
                  <a:pt x="41587" y="145143"/>
                  <a:pt x="38554" y="142110"/>
                  <a:pt x="38554" y="138339"/>
                </a:cubicBezTo>
                <a:lnTo>
                  <a:pt x="38554" y="127000"/>
                </a:lnTo>
                <a:lnTo>
                  <a:pt x="18143" y="127000"/>
                </a:lnTo>
                <a:cubicBezTo>
                  <a:pt x="13125" y="127000"/>
                  <a:pt x="9071" y="122946"/>
                  <a:pt x="9071" y="117929"/>
                </a:cubicBezTo>
                <a:cubicBezTo>
                  <a:pt x="9071" y="112911"/>
                  <a:pt x="13125" y="108857"/>
                  <a:pt x="18143" y="108857"/>
                </a:cubicBezTo>
                <a:lnTo>
                  <a:pt x="55251" y="108857"/>
                </a:lnTo>
                <a:cubicBezTo>
                  <a:pt x="62309" y="108857"/>
                  <a:pt x="68036" y="103131"/>
                  <a:pt x="68036" y="96072"/>
                </a:cubicBezTo>
                <a:cubicBezTo>
                  <a:pt x="68036" y="89694"/>
                  <a:pt x="63358" y="84308"/>
                  <a:pt x="57065" y="83400"/>
                </a:cubicBezTo>
                <a:lnTo>
                  <a:pt x="31098" y="79687"/>
                </a:lnTo>
                <a:cubicBezTo>
                  <a:pt x="15847" y="77532"/>
                  <a:pt x="4536" y="64464"/>
                  <a:pt x="4536" y="49071"/>
                </a:cubicBezTo>
                <a:cubicBezTo>
                  <a:pt x="4536" y="32005"/>
                  <a:pt x="18398" y="18143"/>
                  <a:pt x="35464" y="18143"/>
                </a:cubicBezTo>
                <a:lnTo>
                  <a:pt x="38554" y="18143"/>
                </a:lnTo>
                <a:lnTo>
                  <a:pt x="38554" y="680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4916714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1A2E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Revenue/LTV Findings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286" y="5334000"/>
            <a:ext cx="117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00C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0513" y="5334000"/>
            <a:ext cx="2975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 referral delivers </a:t>
            </a:r>
            <a:pPr>
              <a:lnSpc>
                <a:spcPct val="120000"/>
              </a:lnSpc>
            </a:pPr>
            <a:r>
              <a:rPr lang="en-US" sz="114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LTV: $24,965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286" y="5624286"/>
            <a:ext cx="117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00C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0513" y="5624286"/>
            <a:ext cx="24402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flat across all plan tiers (~22%)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68571" y="1378857"/>
            <a:ext cx="5660571" cy="5479143"/>
          </a:xfrm>
          <a:prstGeom prst="roundRect">
            <a:avLst>
              <a:gd name="adj" fmla="val 1325"/>
            </a:avLst>
          </a:prstGeom>
          <a:solidFill>
            <a:srgbClr val="1A2E35"/>
          </a:solidFill>
          <a:ln/>
          <a:effectLst>
            <a:outerShdw sx="100000" sy="100000" kx="0" ky="0" algn="bl" rotWithShape="0" blurRad="54429" dist="36286" dir="540000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0000" y="1560286"/>
            <a:ext cx="435429" cy="435429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38" name="Shape 36"/>
          <p:cNvSpPr/>
          <p:nvPr/>
        </p:nvSpPr>
        <p:spPr>
          <a:xfrm>
            <a:off x="6477000" y="1687286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45357" y="113393"/>
                </a:moveTo>
                <a:lnTo>
                  <a:pt x="8682" y="113393"/>
                </a:lnTo>
                <a:cubicBezTo>
                  <a:pt x="-142" y="113393"/>
                  <a:pt x="-5563" y="103790"/>
                  <a:pt x="-1028" y="96207"/>
                </a:cubicBezTo>
                <a:lnTo>
                  <a:pt x="17718" y="64953"/>
                </a:lnTo>
                <a:cubicBezTo>
                  <a:pt x="20801" y="59815"/>
                  <a:pt x="26328" y="56696"/>
                  <a:pt x="32317" y="56696"/>
                </a:cubicBezTo>
                <a:lnTo>
                  <a:pt x="65980" y="56696"/>
                </a:lnTo>
                <a:cubicBezTo>
                  <a:pt x="92947" y="11020"/>
                  <a:pt x="133166" y="8717"/>
                  <a:pt x="160061" y="12650"/>
                </a:cubicBezTo>
                <a:cubicBezTo>
                  <a:pt x="164597" y="13324"/>
                  <a:pt x="168140" y="16867"/>
                  <a:pt x="168778" y="21367"/>
                </a:cubicBezTo>
                <a:cubicBezTo>
                  <a:pt x="172711" y="48263"/>
                  <a:pt x="170408" y="88482"/>
                  <a:pt x="124732" y="115448"/>
                </a:cubicBezTo>
                <a:lnTo>
                  <a:pt x="124732" y="149112"/>
                </a:lnTo>
                <a:cubicBezTo>
                  <a:pt x="124732" y="155100"/>
                  <a:pt x="121614" y="160628"/>
                  <a:pt x="116476" y="163711"/>
                </a:cubicBezTo>
                <a:lnTo>
                  <a:pt x="85222" y="182456"/>
                </a:lnTo>
                <a:cubicBezTo>
                  <a:pt x="77674" y="186992"/>
                  <a:pt x="68036" y="181535"/>
                  <a:pt x="68036" y="172747"/>
                </a:cubicBezTo>
                <a:lnTo>
                  <a:pt x="68036" y="136071"/>
                </a:lnTo>
                <a:cubicBezTo>
                  <a:pt x="68036" y="123563"/>
                  <a:pt x="57866" y="113393"/>
                  <a:pt x="45357" y="113393"/>
                </a:cubicBezTo>
                <a:lnTo>
                  <a:pt x="45322" y="113393"/>
                </a:lnTo>
                <a:close/>
                <a:moveTo>
                  <a:pt x="141741" y="56696"/>
                </a:moveTo>
                <a:cubicBezTo>
                  <a:pt x="141741" y="47309"/>
                  <a:pt x="134120" y="39688"/>
                  <a:pt x="124732" y="39688"/>
                </a:cubicBezTo>
                <a:cubicBezTo>
                  <a:pt x="115345" y="39688"/>
                  <a:pt x="107723" y="47309"/>
                  <a:pt x="107723" y="56696"/>
                </a:cubicBezTo>
                <a:cubicBezTo>
                  <a:pt x="107723" y="66084"/>
                  <a:pt x="115345" y="73705"/>
                  <a:pt x="124732" y="73705"/>
                </a:cubicBezTo>
                <a:cubicBezTo>
                  <a:pt x="134120" y="73705"/>
                  <a:pt x="141741" y="66084"/>
                  <a:pt x="141741" y="566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894286" y="1632857"/>
            <a:ext cx="2821214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4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Recommendations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0000" y="2140857"/>
            <a:ext cx="5297714" cy="907143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58857" y="2249714"/>
            <a:ext cx="290286" cy="290286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42" name="Text 40"/>
          <p:cNvSpPr/>
          <p:nvPr/>
        </p:nvSpPr>
        <p:spPr>
          <a:xfrm>
            <a:off x="6427107" y="2249714"/>
            <a:ext cx="35378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0" y="2249714"/>
            <a:ext cx="4753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Reallocate Acquisition Spend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58000" y="2503714"/>
            <a:ext cx="4753429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Shift toward partner-sourced channels (14.6% churn vs 30.2% event) with highest LTV ($24,965)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0000" y="3048000"/>
            <a:ext cx="5297714" cy="907143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58857" y="3156857"/>
            <a:ext cx="290286" cy="290286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47" name="Text 45"/>
          <p:cNvSpPr/>
          <p:nvPr/>
        </p:nvSpPr>
        <p:spPr>
          <a:xfrm>
            <a:off x="6427107" y="3156857"/>
            <a:ext cx="35378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58000" y="3156857"/>
            <a:ext cx="4753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Deprioritize Plan-Tier Retention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58000" y="3410857"/>
            <a:ext cx="4753429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is statistically flat across tiers (~22%) — pricing interventions won't move retention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0000" y="3955143"/>
            <a:ext cx="5297714" cy="907143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58857" y="4064000"/>
            <a:ext cx="290286" cy="290286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52" name="Text 50"/>
          <p:cNvSpPr/>
          <p:nvPr/>
        </p:nvSpPr>
        <p:spPr>
          <a:xfrm>
            <a:off x="6427107" y="4064000"/>
            <a:ext cx="35378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58000" y="4064000"/>
            <a:ext cx="4753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Investigate Event-Channel Quality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58000" y="4318000"/>
            <a:ext cx="4753429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and support don't distinguish churners — gap originates at acquisition (lead fit)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0000" y="4862286"/>
            <a:ext cx="5297714" cy="907143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458857" y="4971143"/>
            <a:ext cx="290286" cy="290286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57" name="Text 55"/>
          <p:cNvSpPr/>
          <p:nvPr/>
        </p:nvSpPr>
        <p:spPr>
          <a:xfrm>
            <a:off x="6427107" y="4971143"/>
            <a:ext cx="35378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58000" y="4971143"/>
            <a:ext cx="4753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Post-Upgrade Churn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58000" y="5225143"/>
            <a:ext cx="4753429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20.5% churn after upgrade vs 8.8% after downgrade — buyer's remorse needs customer success attention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0000" y="5769429"/>
            <a:ext cx="5297714" cy="907143"/>
          </a:xfrm>
          <a:prstGeom prst="roundRect">
            <a:avLst>
              <a:gd name="adj" fmla="val 4000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58857" y="5878286"/>
            <a:ext cx="290286" cy="290286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62" name="Text 60"/>
          <p:cNvSpPr/>
          <p:nvPr/>
        </p:nvSpPr>
        <p:spPr>
          <a:xfrm>
            <a:off x="6427107" y="5878286"/>
            <a:ext cx="35378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58000" y="5878286"/>
            <a:ext cx="4753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 Churn-Event Data Gap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58000" y="6132286"/>
            <a:ext cx="4753429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32% of churned accounts lack reason codes — improving capture is an operational priority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ba05fffad98063091ff63f87d2e47506cec01f9c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E35">
                  <a:alpha val="95000"/>
                </a:srgbClr>
              </a:gs>
              <a:gs pos="50000">
                <a:srgbClr val="1A2E35">
                  <a:alpha val="90000"/>
                </a:srgbClr>
              </a:gs>
              <a:gs pos="100000">
                <a:srgbClr val="1A2E35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Outcome &amp; Impact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57300"/>
            <a:ext cx="914400" cy="38100"/>
          </a:xfrm>
          <a:prstGeom prst="roundRect">
            <a:avLst>
              <a:gd name="adj" fmla="val 0"/>
            </a:avLst>
          </a:prstGeom>
          <a:solidFill>
            <a:srgbClr val="C5A57A"/>
          </a:solidFill>
          <a:ln/>
        </p:spPr>
      </p:sp>
      <p:sp>
        <p:nvSpPr>
          <p:cNvPr id="7" name="Shape 4"/>
          <p:cNvSpPr/>
          <p:nvPr/>
        </p:nvSpPr>
        <p:spPr>
          <a:xfrm>
            <a:off x="385763" y="1452563"/>
            <a:ext cx="5629275" cy="1552575"/>
          </a:xfrm>
          <a:prstGeom prst="roundRect">
            <a:avLst>
              <a:gd name="adj" fmla="val 4908"/>
            </a:avLst>
          </a:pr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2925" y="1609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9" name="Shape 6"/>
          <p:cNvSpPr/>
          <p:nvPr/>
        </p:nvSpPr>
        <p:spPr>
          <a:xfrm>
            <a:off x="657225" y="172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38225" y="166687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Outcome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2925" y="2105025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insights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identifying acquisition channel quality as the primary churn driver, enabling targeted retention strategy and resource reallocation.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5763" y="3128963"/>
            <a:ext cx="5629275" cy="1952625"/>
          </a:xfrm>
          <a:prstGeom prst="roundRect">
            <a:avLst>
              <a:gd name="adj" fmla="val 3902"/>
            </a:avLst>
          </a:pr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2925" y="3286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14" name="Shape 11"/>
          <p:cNvSpPr/>
          <p:nvPr/>
        </p:nvSpPr>
        <p:spPr>
          <a:xfrm>
            <a:off x="657225" y="3400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38225" y="3343275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 Demonstrated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2925" y="37814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4964" y="3781425"/>
            <a:ext cx="459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analytics pipeline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Python ETL, SQL analysis, Power BI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2925" y="40862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4964" y="4086225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validation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Identified churn_flag mismatch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2925" y="43910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4964" y="4391025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Survival-based tenure, LTV calculations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2925" y="46958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4964" y="4695825"/>
            <a:ext cx="442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Business-focused recommendations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Channel strategy insights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76963" y="1452563"/>
            <a:ext cx="5629275" cy="1876425"/>
          </a:xfrm>
          <a:prstGeom prst="roundRect">
            <a:avLst>
              <a:gd name="adj" fmla="val 4061"/>
            </a:avLst>
          </a:pr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34125" y="1609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26" name="Shape 23"/>
          <p:cNvSpPr/>
          <p:nvPr/>
        </p:nvSpPr>
        <p:spPr>
          <a:xfrm>
            <a:off x="6438900" y="1724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6829425" y="1666875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34125" y="21050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56164" y="2105025"/>
            <a:ext cx="465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events table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most reliable exit signal — flags can mislead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34125" y="24098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456164" y="2409825"/>
            <a:ext cx="526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71% of active accounts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have prior churn history — reactivation tracking is critical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34125" y="29432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56164" y="2943225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completeness matters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32% missing churn reasons limits diagnosis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76963" y="3452813"/>
            <a:ext cx="5629275" cy="2219325"/>
          </a:xfrm>
          <a:prstGeom prst="roundRect">
            <a:avLst>
              <a:gd name="adj" fmla="val 3433"/>
            </a:avLst>
          </a:prstGeom>
          <a:solidFill>
            <a:srgbClr val="C5A57A">
              <a:alpha val="20000"/>
            </a:srgbClr>
          </a:solidFill>
          <a:ln w="12700">
            <a:solidFill>
              <a:srgbClr val="C5A57A">
                <a:alpha val="4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34125" y="36099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5A57A"/>
          </a:solidFill>
          <a:ln/>
        </p:spPr>
      </p:sp>
      <p:sp>
        <p:nvSpPr>
          <p:cNvPr id="36" name="Shape 33"/>
          <p:cNvSpPr/>
          <p:nvPr/>
        </p:nvSpPr>
        <p:spPr>
          <a:xfrm>
            <a:off x="6448425" y="3724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6829425" y="3667125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34125" y="4105275"/>
            <a:ext cx="2600325" cy="838200"/>
          </a:xfrm>
          <a:prstGeom prst="roundRect">
            <a:avLst>
              <a:gd name="adj" fmla="val 4545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6362700" y="4219575"/>
            <a:ext cx="2543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$4,689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415088" y="463867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LTV Difference (Best vs Worst Channel)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048750" y="4105275"/>
            <a:ext cx="2600325" cy="838200"/>
          </a:xfrm>
          <a:prstGeom prst="roundRect">
            <a:avLst>
              <a:gd name="adj" fmla="val 4545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9077325" y="4219575"/>
            <a:ext cx="2543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15.6%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9129713" y="463867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Rate Gap (Event vs Partner)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34125" y="5057775"/>
            <a:ext cx="539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shift from plan-tier to acquisition-quality interventions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enabling RavenStack to focus retention investments where they matter most.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4630787" y="5967413"/>
            <a:ext cx="2933700" cy="504825"/>
          </a:xfrm>
          <a:prstGeom prst="roundRect">
            <a:avLst>
              <a:gd name="adj" fmla="val 15094"/>
            </a:avLst>
          </a:prstGeom>
          <a:solidFill>
            <a:srgbClr val="C5A57A">
              <a:alpha val="20000"/>
            </a:srgbClr>
          </a:solidFill>
          <a:ln w="12700">
            <a:solidFill>
              <a:srgbClr val="C5A57A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887962" y="6124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7" name="Text 44"/>
          <p:cNvSpPr/>
          <p:nvPr/>
        </p:nvSpPr>
        <p:spPr>
          <a:xfrm>
            <a:off x="5173712" y="6086475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your attention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RavenStack SaaS Subscription &amp; Churn Analysis</dc:title>
  <dc:subject>RavenStack SaaS Subscription &amp; Churn Analysis</dc:subject>
  <dc:creator>Kimi</dc:creator>
  <cp:lastModifiedBy>Kimi</cp:lastModifiedBy>
  <cp:revision>1</cp:revision>
  <dcterms:created xsi:type="dcterms:W3CDTF">2026-06-19T07:48:45Z</dcterms:created>
  <dcterms:modified xsi:type="dcterms:W3CDTF">2026-06-19T07:48:45Z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{"Label":"RavenStack SaaS Subscription &amp; Churn Analysis","ContentProducer":"001191110108MACG2KBH8F10000","ProduceID":"19edeccc-42b2-8149-8000-0000bdf37298","ReservedCode1":"","ContentPropagator":"001191110108MACG2KBH8F20000","PropagateID":"19edeccc-42b2-8149-8000-0000bdf37298","ReservedCode2":""}</vt:lpwstr>
  </property>
</Properties>
</file>